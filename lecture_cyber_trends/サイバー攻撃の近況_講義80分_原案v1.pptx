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7" r:id="rId1"/>
  </p:sldMasterIdLst>
  <p:notesMasterIdLst>
    <p:notesMasterId r:id="rId6"/>
  </p:notesMasterIdLst>
  <p:sldIdLst>
    <p:sldId id="259" r:id="rId2"/>
    <p:sldId id="609" r:id="rId3"/>
    <p:sldId id="610" r:id="rId5"/>
    <p:sldId id="611" r:id="rId4"/>
    <p:sldId id="612" r:id="rId11"/>
    <p:sldId id="613" r:id="rId12"/>
    <p:sldId id="614" r:id="rId13"/>
    <p:sldId id="615" r:id="rId14"/>
    <p:sldId id="616" r:id="rId15"/>
    <p:sldId id="617" r:id="rId16"/>
    <p:sldId id="618" r:id="rId17"/>
    <p:sldId id="619" r:id="rId18"/>
    <p:sldId id="620" r:id="rId19"/>
    <p:sldId id="621" r:id="rId20"/>
    <p:sldId id="622" r:id="rId21"/>
    <p:sldId id="623" r:id="rId22"/>
    <p:sldId id="624" r:id="rId23"/>
    <p:sldId id="625" r:id="rId24"/>
    <p:sldId id="626" r:id="rId25"/>
    <p:sldId id="627" r:id="rId26"/>
    <p:sldId id="628" r:id="rId27"/>
    <p:sldId id="629" r:id="rId28"/>
    <p:sldId id="630" r:id="rId29"/>
    <p:sldId id="631" r:id="rId30"/>
    <p:sldId id="632" r:id="rId31"/>
    <p:sldId id="633" r:id="rId32"/>
    <p:sldId id="634" r:id="rId33"/>
    <p:sldId id="635" r:id="rId34"/>
    <p:sldId id="636" r:id="rId35"/>
    <p:sldId id="637" r:id="rId36"/>
    <p:sldId id="638" r:id="rId37"/>
    <p:sldId id="639" r:id="rId38"/>
    <p:sldId id="640" r:id="rId39"/>
    <p:sldId id="641" r:id="rId40"/>
    <p:sldId id="642" r:id="rId41"/>
  </p:sldIdLst>
  <p:sldSz cx="9144000" cy="5143500" type="screen16x9"/>
  <p:notesSz cx="7102475"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680" userDrawn="1">
          <p15:clr>
            <a:srgbClr val="A4A3A4"/>
          </p15:clr>
        </p15:guide>
        <p15:guide id="2" orient="horz" pos="28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FFD579"/>
    <a:srgbClr val="FFFFFF"/>
    <a:srgbClr val="FFCCFF"/>
    <a:srgbClr val="1F4E79"/>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395"/>
    <p:restoredTop sz="81781" autoAdjust="0"/>
  </p:normalViewPr>
  <p:slideViewPr>
    <p:cSldViewPr snapToGrid="0">
      <p:cViewPr varScale="1">
        <p:scale>
          <a:sx n="280" d="100"/>
          <a:sy n="280" d="100"/>
        </p:scale>
        <p:origin x="200" y="448"/>
      </p:cViewPr>
      <p:guideLst>
        <p:guide pos="680"/>
        <p:guide orient="horz" pos="282"/>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3077739" cy="513508"/>
          </a:xfrm>
          <a:prstGeom prst="rect">
            <a:avLst/>
          </a:prstGeom>
        </p:spPr>
        <p:txBody>
          <a:bodyPr vert="horz" lIns="99066" tIns="49533" rIns="99066" bIns="49533" rtlCol="0"/>
          <a:lstStyle>
            <a:lvl1pPr algn="l">
              <a:defRPr sz="1300"/>
            </a:lvl1pPr>
          </a:lstStyle>
          <a:p>
            <a:endParaRPr kumimoji="1" lang="ja-JP" altLang="en-US"/>
          </a:p>
        </p:txBody>
      </p:sp>
      <p:sp>
        <p:nvSpPr>
          <p:cNvPr id="3" name="日付プレースホルダー 2"/>
          <p:cNvSpPr>
            <a:spLocks noGrp="1"/>
          </p:cNvSpPr>
          <p:nvPr>
            <p:ph type="dt" idx="1"/>
          </p:nvPr>
        </p:nvSpPr>
        <p:spPr>
          <a:xfrm>
            <a:off x="4023092" y="0"/>
            <a:ext cx="3077739" cy="513508"/>
          </a:xfrm>
          <a:prstGeom prst="rect">
            <a:avLst/>
          </a:prstGeom>
        </p:spPr>
        <p:txBody>
          <a:bodyPr vert="horz" lIns="99066" tIns="49533" rIns="99066" bIns="49533" rtlCol="0"/>
          <a:lstStyle>
            <a:lvl1pPr algn="r">
              <a:defRPr sz="1300"/>
            </a:lvl1pPr>
          </a:lstStyle>
          <a:p>
            <a:fld id="{E4D787E3-C620-4F6A-8725-8920347D81D0}" type="datetimeFigureOut">
              <a:rPr kumimoji="1" lang="ja-JP" altLang="en-US" smtClean="0"/>
              <a:t>2026/7/15</a:t>
            </a:fld>
            <a:endParaRPr kumimoji="1" lang="ja-JP" altLang="en-US"/>
          </a:p>
        </p:txBody>
      </p:sp>
      <p:sp>
        <p:nvSpPr>
          <p:cNvPr id="4" name="スライド イメージ プレースホルダー 3"/>
          <p:cNvSpPr>
            <a:spLocks noGrp="1" noRot="1" noChangeAspect="1"/>
          </p:cNvSpPr>
          <p:nvPr>
            <p:ph type="sldImg" idx="2"/>
          </p:nvPr>
        </p:nvSpPr>
        <p:spPr>
          <a:xfrm>
            <a:off x="481013" y="1279525"/>
            <a:ext cx="6140450" cy="3454400"/>
          </a:xfrm>
          <a:prstGeom prst="rect">
            <a:avLst/>
          </a:prstGeom>
          <a:noFill/>
          <a:ln w="12700">
            <a:solidFill>
              <a:prstClr val="black"/>
            </a:solidFill>
          </a:ln>
        </p:spPr>
        <p:txBody>
          <a:bodyPr vert="horz" lIns="99066" tIns="49533" rIns="99066" bIns="49533" rtlCol="0" anchor="ctr"/>
          <a:lstStyle/>
          <a:p>
            <a:endParaRPr lang="ja-JP" altLang="en-US"/>
          </a:p>
        </p:txBody>
      </p:sp>
      <p:sp>
        <p:nvSpPr>
          <p:cNvPr id="5" name="ノート プレースホルダー 4"/>
          <p:cNvSpPr>
            <a:spLocks noGrp="1"/>
          </p:cNvSpPr>
          <p:nvPr>
            <p:ph type="body" sz="quarter" idx="3"/>
          </p:nvPr>
        </p:nvSpPr>
        <p:spPr>
          <a:xfrm>
            <a:off x="710248" y="4925407"/>
            <a:ext cx="5681980" cy="4029879"/>
          </a:xfrm>
          <a:prstGeom prst="rect">
            <a:avLst/>
          </a:prstGeom>
        </p:spPr>
        <p:txBody>
          <a:bodyPr vert="horz" lIns="99066" tIns="49533" rIns="99066" bIns="49533"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721107"/>
            <a:ext cx="3077739" cy="513507"/>
          </a:xfrm>
          <a:prstGeom prst="rect">
            <a:avLst/>
          </a:prstGeom>
        </p:spPr>
        <p:txBody>
          <a:bodyPr vert="horz" lIns="99066" tIns="49533" rIns="99066" bIns="49533" rtlCol="0" anchor="b"/>
          <a:lstStyle>
            <a:lvl1pPr algn="l">
              <a:defRPr sz="1300"/>
            </a:lvl1pPr>
          </a:lstStyle>
          <a:p>
            <a:endParaRPr kumimoji="1" lang="ja-JP" altLang="en-US"/>
          </a:p>
        </p:txBody>
      </p:sp>
      <p:sp>
        <p:nvSpPr>
          <p:cNvPr id="7" name="スライド番号プレースホルダー 6"/>
          <p:cNvSpPr>
            <a:spLocks noGrp="1"/>
          </p:cNvSpPr>
          <p:nvPr>
            <p:ph type="sldNum" sz="quarter" idx="5"/>
          </p:nvPr>
        </p:nvSpPr>
        <p:spPr>
          <a:xfrm>
            <a:off x="4023092" y="9721107"/>
            <a:ext cx="3077739" cy="513507"/>
          </a:xfrm>
          <a:prstGeom prst="rect">
            <a:avLst/>
          </a:prstGeom>
        </p:spPr>
        <p:txBody>
          <a:bodyPr vert="horz" lIns="99066" tIns="49533" rIns="99066" bIns="49533" rtlCol="0" anchor="b"/>
          <a:lstStyle>
            <a:lvl1pPr algn="r">
              <a:defRPr sz="1300"/>
            </a:lvl1pPr>
          </a:lstStyle>
          <a:p>
            <a:fld id="{4E9AC776-E4A9-47DC-B286-3534BF288198}" type="slidenum">
              <a:rPr kumimoji="1" lang="ja-JP" altLang="en-US" smtClean="0"/>
              <a:t>‹#›</a:t>
            </a:fld>
            <a:endParaRPr kumimoji="1" lang="ja-JP" altLang="en-US"/>
          </a:p>
        </p:txBody>
      </p:sp>
    </p:spTree>
    <p:extLst>
      <p:ext uri="{BB962C8B-B14F-4D97-AF65-F5344CB8AC3E}">
        <p14:creationId xmlns:p14="http://schemas.microsoft.com/office/powerpoint/2010/main" val="207173787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1013" y="1279525"/>
            <a:ext cx="6140450" cy="3454400"/>
          </a:xfrm>
        </p:spPr>
      </p:sp>
      <p:sp>
        <p:nvSpPr>
          <p:cNvPr id="3" name="ノート プレースホルダー 2"/>
          <p:cNvSpPr>
            <a:spLocks noGrp="1"/>
          </p:cNvSpPr>
          <p:nvPr>
            <p:ph type="body" idx="1"/>
          </p:nvPr>
        </p:nvSpPr>
        <p:spPr/>
        <p:txBody>
          <a:bodyPr/>
          <a:lstStyle/>
          <a:p>
            <a:endParaRPr lang="en-US" dirty="0"/>
          </a:p>
        </p:txBody>
      </p:sp>
      <p:sp>
        <p:nvSpPr>
          <p:cNvPr id="4" name="スライド番号プレースホルダー 3"/>
          <p:cNvSpPr>
            <a:spLocks noGrp="1"/>
          </p:cNvSpPr>
          <p:nvPr>
            <p:ph type="sldNum" sz="quarter" idx="5"/>
          </p:nvPr>
        </p:nvSpPr>
        <p:spPr/>
        <p:txBody>
          <a:bodyPr/>
          <a:lstStyle/>
          <a:p>
            <a:fld id="{4E9AC776-E4A9-47DC-B286-3534BF288198}" type="slidenum">
              <a:rPr kumimoji="1" lang="ja-JP" altLang="en-US" smtClean="0"/>
              <a:t>0</a:t>
            </a:fld>
            <a:endParaRPr kumimoji="1" lang="ja-JP" altLang="en-US"/>
          </a:p>
        </p:txBody>
      </p:sp>
    </p:spTree>
    <p:extLst>
      <p:ext uri="{BB962C8B-B14F-4D97-AF65-F5344CB8AC3E}">
        <p14:creationId xmlns:p14="http://schemas.microsoft.com/office/powerpoint/2010/main" val="1621377437"/>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【約3分】講義の主張を先に示す。「新しい脅威の話をするが、結論は基本に立ち返ること」と予告し、受講者の不安を煽るだけの講義ではないことを明確にする。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【約2分】時間配分を宣言。第2章(AI/Mythos)が本講義の新規部分であり最も厚いことを伝える。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事例は「情報系→対応の巧拙→物理・安全系→戦争」の順で、被害の階段を上っていく構成。</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【約3分】身近な国内事例(アサヒ)から入ると受講者の当事者意識が高まる。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【約3分】第5章(レジリエンス)への伏線。「手動操業に切り替えられた=拠り所があった」ことを強調。</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【約3分】第2章の議論(物理的な安全対策が拠り所)の前提として、安全系が狙われる現実を先に示す。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【約3分】2026年の2事例は元資料(OT講演p.5)に準拠。数字(死傷者数)は講義前に最新報道で再確認のこと。</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【約3分】第1章の締め。「守り切れない」を悲観ではなく設計思想の転換として提示し、第2章へ橋渡し。</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本講義の中核。前半(事実パート)はWeb公開情報、後半(姿勢パート)は原稿「高度なAIによりプラントの安全は破綻する?」に基づく。</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【約3分】AIの進歩を「善悪両用の労働力の出現」として位置づける。次スライドから攻撃側の実例3連発。</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【約3分】実際に起きた事件として確度が高い事例。Mythos以前にすでに転換点は来ていたことを示す。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【約3分】数字は発表時点の公開情報。講義直前にred.anthropic.comの最新版を再確認のこと。</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【約3分】ここは事実を淡々と。過度にSF的に語らず、「開発元自身が統制リスクを認めて公開を絞った」点が要点。</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【約2分】脅威一辺倒にせず、防御側の動きを対で見せる。受講者の実務(パッチ管理)に接続する。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【約3分】タイムラインは報道ベース。日付の細部は講義前に再確認。ここまでが「事実」、次から「姿勢」。</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【約2分】議論の土俵を定義するスライド。(B)を範囲外と明示することで議論が発散しない。</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【約3分】本講義で最も伝えたいスライドの一つ。「AIの高度化」と「物理法則」を対比させる。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【約3分】第2章の結論。第5章(レジリエンス)で具体化することを予告して章を閉じる。</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量子×セキュリティ講演資料のエッセンスを15分に凝縮。技術は1枚、あとはリスクと期限の話に徹する。</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【約2分】物理の話はここで終わり、と宣言すると安心感が出る。</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【約3分】第2章のAI(現在進行形の脅威)との対比で、「量子も実は現在進行形」という導線。</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【約3分】本章で一番の持ち帰りツール。受講者に自社のXを1つ思い浮かべてもらう問いかけを入れる。</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【約3分】表は読み上げず「2030/2035に収斂している」ことだけ強調。日本の行(CRYPTREC)を丁寧に。</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【約2分】「気づかないうちに自分のブラウザもPQを使っている」ことを示すと実感が湧く。</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【約2分】5ステップは詳細に入らず全体像のみ。詳細は元講演資料を配布資料として案内する想定。</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規制は脅しではなく「社内を動かす道具」として紹介するトーン。</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【約3分】CRAの罰金額で注意を引き、JC-STARで日本の実務に着地させる。</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【約3分】第2章(Mythos統制)・第3章(移行期限)と規制をひとつの構図に束ねる。</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第2章の結論(検知重視・停止・早期復旧)を、OT講演資料の枠組みで実務に落とす。</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【約4分】「隔離・代替・停止」は本講義のキーワードとして繰り返す。AI攻撃(第2章)にもそのまま通用する。</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【約4分】SBOMは「AIによる脆弱性発見の洪水(第2章)への現実的な備え」として位置づけ直すのがポイント。</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【約4分】3アクションは第2章・第3章・第4章それぞれの持ち帰り。受講者を勇気づけて締める。</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出典スライド。Mythos関連は状況が動いているため、講義直前の再確認を注記済み。</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タイトル スライド">
    <p:spTree>
      <p:nvGrpSpPr>
        <p:cNvPr id="1" name=""/>
        <p:cNvGrpSpPr/>
        <p:nvPr/>
      </p:nvGrpSpPr>
      <p:grpSpPr>
        <a:xfrm>
          <a:off x="0" y="0"/>
          <a:ext cx="0" cy="0"/>
          <a:chOff x="0" y="0"/>
          <a:chExt cx="0" cy="0"/>
        </a:xfrm>
      </p:grpSpPr>
      <p:pic>
        <p:nvPicPr>
          <p:cNvPr id="10" name="図 9"/>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976257"/>
            <a:ext cx="9144000" cy="3558092"/>
          </a:xfrm>
          <a:prstGeom prst="rect">
            <a:avLst/>
          </a:prstGeom>
        </p:spPr>
      </p:pic>
      <p:sp>
        <p:nvSpPr>
          <p:cNvPr id="6" name="Slide Number Placeholder 5"/>
          <p:cNvSpPr>
            <a:spLocks noGrp="1"/>
          </p:cNvSpPr>
          <p:nvPr>
            <p:ph type="sldNum" sz="quarter" idx="12"/>
          </p:nvPr>
        </p:nvSpPr>
        <p:spPr/>
        <p:txBody>
          <a:bodyPr/>
          <a:lstStyle/>
          <a:p>
            <a:fld id="{6BA56727-FBE4-4150-A67F-8D3E9BCF0665}" type="slidenum">
              <a:rPr kumimoji="1" lang="ja-JP" altLang="en-US" smtClean="0"/>
              <a:t>‹#›</a:t>
            </a:fld>
            <a:endParaRPr kumimoji="1" lang="ja-JP" altLang="en-US"/>
          </a:p>
        </p:txBody>
      </p:sp>
      <p:sp>
        <p:nvSpPr>
          <p:cNvPr id="11" name="正方形/長方形 10"/>
          <p:cNvSpPr/>
          <p:nvPr userDrawn="1"/>
        </p:nvSpPr>
        <p:spPr>
          <a:xfrm>
            <a:off x="559398" y="1928309"/>
            <a:ext cx="8143538" cy="1274781"/>
          </a:xfrm>
          <a:prstGeom prst="rect">
            <a:avLst/>
          </a:prstGeom>
          <a:solidFill>
            <a:srgbClr val="1F4E79">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dirty="0">
              <a:latin typeface="+mj-ea"/>
              <a:ea typeface="+mj-ea"/>
            </a:endParaRPr>
          </a:p>
        </p:txBody>
      </p:sp>
      <p:sp>
        <p:nvSpPr>
          <p:cNvPr id="13" name="Footer Placeholder 4"/>
          <p:cNvSpPr>
            <a:spLocks noGrp="1"/>
          </p:cNvSpPr>
          <p:nvPr>
            <p:ph type="ftr" sz="quarter" idx="3"/>
          </p:nvPr>
        </p:nvSpPr>
        <p:spPr>
          <a:xfrm>
            <a:off x="2086904" y="4820672"/>
            <a:ext cx="4970195" cy="140525"/>
          </a:xfrm>
          <a:prstGeom prst="rect">
            <a:avLst/>
          </a:prstGeom>
        </p:spPr>
        <p:txBody>
          <a:bodyPr anchor="ctr"/>
          <a:lstStyle>
            <a:lvl1pPr algn="ctr">
              <a:defRPr sz="600">
                <a:solidFill>
                  <a:schemeClr val="tx1">
                    <a:lumMod val="50000"/>
                    <a:lumOff val="50000"/>
                  </a:schemeClr>
                </a:solidFill>
                <a:latin typeface="メイリオ" panose="020B0604030504040204" pitchFamily="50" charset="-128"/>
                <a:ea typeface="メイリオ" panose="020B0604030504040204" pitchFamily="50" charset="-128"/>
              </a:defRPr>
            </a:lvl1pPr>
          </a:lstStyle>
          <a:p>
            <a:r>
              <a:rPr lang="en-US" altLang="ja-JP"/>
              <a:t>© Innovation Platform Agency, Japan
Industrial Cyber Security Center of Excellence</a:t>
            </a:r>
            <a:endParaRPr lang="ja-JP" altLang="en-US" sz="600" dirty="0"/>
          </a:p>
        </p:txBody>
      </p:sp>
      <p:sp>
        <p:nvSpPr>
          <p:cNvPr id="7" name="タイトル 1"/>
          <p:cNvSpPr>
            <a:spLocks noGrp="1"/>
          </p:cNvSpPr>
          <p:nvPr>
            <p:ph type="ctrTitle" hasCustomPrompt="1"/>
          </p:nvPr>
        </p:nvSpPr>
        <p:spPr>
          <a:xfrm>
            <a:off x="559398" y="1928307"/>
            <a:ext cx="8143538" cy="1274782"/>
          </a:xfrm>
          <a:prstGeom prst="rect">
            <a:avLst/>
          </a:prstGeom>
          <a:noFill/>
          <a:ln w="9525">
            <a:noFill/>
            <a:miter lim="800000"/>
            <a:headEnd/>
            <a:tailEnd/>
          </a:ln>
          <a:effectLst>
            <a:outerShdw dist="53882" dir="2700000" algn="ctr" rotWithShape="0">
              <a:srgbClr val="FFFFFF"/>
            </a:outerShdw>
          </a:effectLst>
        </p:spPr>
        <p:txBody>
          <a:bodyPr vert="horz" wrap="square" lIns="104293" tIns="0" rIns="104293" bIns="0" numCol="1" anchor="ctr" anchorCtr="0" compatLnSpc="1">
            <a:prstTxWarp prst="textNoShape">
              <a:avLst/>
            </a:prstTxWarp>
            <a:noAutofit/>
          </a:bodyPr>
          <a:lstStyle>
            <a:lvl1pPr algn="l" rtl="0" fontAlgn="base">
              <a:spcBef>
                <a:spcPct val="0"/>
              </a:spcBef>
              <a:spcAft>
                <a:spcPct val="0"/>
              </a:spcAft>
              <a:defRPr kumimoji="1" lang="ja-JP" altLang="en-US" sz="2400" b="0" i="0" baseline="0">
                <a:solidFill>
                  <a:srgbClr val="000000"/>
                </a:solidFill>
                <a:effectLst/>
                <a:latin typeface="ＭＳ Ｐゴシック" pitchFamily="50" charset="-128"/>
                <a:ea typeface="ＭＳ Ｐゴシック" pitchFamily="50" charset="-128"/>
                <a:cs typeface="+mj-cs"/>
              </a:defRPr>
            </a:lvl1pPr>
          </a:lstStyle>
          <a:p>
            <a:r>
              <a:rPr kumimoji="1" lang="ja-JP" altLang="en-US"/>
              <a:t>マスタ タイトルの書式設定</a:t>
            </a:r>
            <a:endParaRPr kumimoji="1" lang="ja-JP" altLang="en-US" dirty="0"/>
          </a:p>
        </p:txBody>
      </p:sp>
      <p:sp>
        <p:nvSpPr>
          <p:cNvPr id="8" name="サブタイトル 2"/>
          <p:cNvSpPr>
            <a:spLocks noGrp="1"/>
          </p:cNvSpPr>
          <p:nvPr>
            <p:ph type="subTitle" idx="1" hasCustomPrompt="1"/>
          </p:nvPr>
        </p:nvSpPr>
        <p:spPr>
          <a:xfrm>
            <a:off x="559398" y="3554236"/>
            <a:ext cx="8143538" cy="499747"/>
          </a:xfrm>
          <a:prstGeom prst="rect">
            <a:avLst/>
          </a:prstGeom>
          <a:noFill/>
          <a:ln w="9525">
            <a:noFill/>
            <a:miter lim="800000"/>
            <a:headEnd/>
            <a:tailEnd/>
          </a:ln>
          <a:effectLst/>
        </p:spPr>
        <p:txBody>
          <a:bodyPr vert="horz" wrap="none" lIns="104293" tIns="52146" rIns="104293" bIns="52146" numCol="1" anchor="t" anchorCtr="0" compatLnSpc="1">
            <a:prstTxWarp prst="textNoShape">
              <a:avLst/>
            </a:prstTxWarp>
            <a:noAutofit/>
          </a:bodyPr>
          <a:lstStyle>
            <a:lvl1pPr marL="0" marR="0" indent="0" algn="l" defTabSz="310968" rtl="0" eaLnBrk="1" fontAlgn="auto" latinLnBrk="0" hangingPunct="1">
              <a:lnSpc>
                <a:spcPct val="100000"/>
              </a:lnSpc>
              <a:spcBef>
                <a:spcPct val="20000"/>
              </a:spcBef>
              <a:spcAft>
                <a:spcPts val="0"/>
              </a:spcAft>
              <a:buClrTx/>
              <a:buSzTx/>
              <a:buFont typeface="Arial"/>
              <a:buNone/>
              <a:tabLst/>
              <a:defRPr kumimoji="1" lang="ja-JP" altLang="en-US" sz="1361" b="0">
                <a:solidFill>
                  <a:srgbClr val="0432FF"/>
                </a:solidFill>
                <a:latin typeface="HG明朝B" panose="02020809000000000000" pitchFamily="17" charset="-128"/>
                <a:ea typeface="HG明朝B" panose="02020809000000000000" pitchFamily="17" charset="-128"/>
                <a:cs typeface="+mn-cs"/>
              </a:defRPr>
            </a:lvl1pPr>
            <a:lvl2pPr marL="334431" indent="0" algn="ctr">
              <a:buNone/>
              <a:defRPr>
                <a:solidFill>
                  <a:schemeClr val="tx1">
                    <a:tint val="75000"/>
                  </a:schemeClr>
                </a:solidFill>
              </a:defRPr>
            </a:lvl2pPr>
            <a:lvl3pPr marL="668862" indent="0" algn="ctr">
              <a:buNone/>
              <a:defRPr>
                <a:solidFill>
                  <a:schemeClr val="tx1">
                    <a:tint val="75000"/>
                  </a:schemeClr>
                </a:solidFill>
              </a:defRPr>
            </a:lvl3pPr>
            <a:lvl4pPr marL="1003293" indent="0" algn="ctr">
              <a:buNone/>
              <a:defRPr>
                <a:solidFill>
                  <a:schemeClr val="tx1">
                    <a:tint val="75000"/>
                  </a:schemeClr>
                </a:solidFill>
              </a:defRPr>
            </a:lvl4pPr>
            <a:lvl5pPr marL="1337723" indent="0" algn="ctr">
              <a:buNone/>
              <a:defRPr>
                <a:solidFill>
                  <a:schemeClr val="tx1">
                    <a:tint val="75000"/>
                  </a:schemeClr>
                </a:solidFill>
              </a:defRPr>
            </a:lvl5pPr>
            <a:lvl6pPr marL="1672154" indent="0" algn="ctr">
              <a:buNone/>
              <a:defRPr>
                <a:solidFill>
                  <a:schemeClr val="tx1">
                    <a:tint val="75000"/>
                  </a:schemeClr>
                </a:solidFill>
              </a:defRPr>
            </a:lvl6pPr>
            <a:lvl7pPr marL="2006586" indent="0" algn="ctr">
              <a:buNone/>
              <a:defRPr>
                <a:solidFill>
                  <a:schemeClr val="tx1">
                    <a:tint val="75000"/>
                  </a:schemeClr>
                </a:solidFill>
              </a:defRPr>
            </a:lvl7pPr>
            <a:lvl8pPr marL="2341016" indent="0" algn="ctr">
              <a:buNone/>
              <a:defRPr>
                <a:solidFill>
                  <a:schemeClr val="tx1">
                    <a:tint val="75000"/>
                  </a:schemeClr>
                </a:solidFill>
              </a:defRPr>
            </a:lvl8pPr>
            <a:lvl9pPr marL="2675447" indent="0" algn="ctr">
              <a:buNone/>
              <a:defRPr>
                <a:solidFill>
                  <a:schemeClr val="tx1">
                    <a:tint val="75000"/>
                  </a:schemeClr>
                </a:solidFill>
              </a:defRPr>
            </a:lvl9pPr>
          </a:lstStyle>
          <a:p>
            <a:r>
              <a:rPr kumimoji="1" lang="ja-JP" altLang="en-US" dirty="0"/>
              <a:t>サブタイトル</a:t>
            </a:r>
            <a:endParaRPr kumimoji="1" lang="en-US" altLang="ja-JP" dirty="0"/>
          </a:p>
          <a:p>
            <a:endParaRPr kumimoji="1" lang="en-US" altLang="ja-JP" dirty="0"/>
          </a:p>
        </p:txBody>
      </p:sp>
    </p:spTree>
    <p:extLst>
      <p:ext uri="{BB962C8B-B14F-4D97-AF65-F5344CB8AC3E}">
        <p14:creationId xmlns:p14="http://schemas.microsoft.com/office/powerpoint/2010/main" val="3264039205"/>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a:xfrm>
            <a:off x="875762" y="4767263"/>
            <a:ext cx="1146221" cy="273844"/>
          </a:xfrm>
        </p:spPr>
        <p:txBody>
          <a:bodyPr/>
          <a:lstStyle/>
          <a:p>
            <a:fld id="{421F367F-F268-9247-AE28-FDDFB178BD6F}" type="datetime1">
              <a:rPr lang="ja-JP" altLang="en-US" smtClean="0"/>
              <a:t>2026/7/15</a:t>
            </a:fld>
            <a:endParaRPr lang="en-US" dirty="0"/>
          </a:p>
        </p:txBody>
      </p:sp>
      <p:sp>
        <p:nvSpPr>
          <p:cNvPr id="6" name="Slide Number Placeholder 5"/>
          <p:cNvSpPr>
            <a:spLocks noGrp="1"/>
          </p:cNvSpPr>
          <p:nvPr>
            <p:ph type="sldNum" sz="quarter" idx="12"/>
          </p:nvPr>
        </p:nvSpPr>
        <p:spPr/>
        <p:txBody>
          <a:bodyPr/>
          <a:lstStyle/>
          <a:p>
            <a:fld id="{6BA56727-FBE4-4150-A67F-8D3E9BCF0665}" type="slidenum">
              <a:rPr lang="ja-JP" altLang="en-US" smtClean="0"/>
              <a:pPr/>
              <a:t>‹#›</a:t>
            </a:fld>
            <a:endParaRPr lang="ja-JP" altLang="en-US"/>
          </a:p>
        </p:txBody>
      </p:sp>
      <p:sp>
        <p:nvSpPr>
          <p:cNvPr id="10" name="フッター プレースホルダー 9">
            <a:extLst>
              <a:ext uri="{FF2B5EF4-FFF2-40B4-BE49-F238E27FC236}">
                <a16:creationId xmlns:a16="http://schemas.microsoft.com/office/drawing/2014/main" id="{1128402D-A46B-5C31-03B5-43AEF8B11F12}"/>
              </a:ext>
            </a:extLst>
          </p:cNvPr>
          <p:cNvSpPr>
            <a:spLocks noGrp="1"/>
          </p:cNvSpPr>
          <p:nvPr>
            <p:ph type="ftr" sz="quarter" idx="13"/>
          </p:nvPr>
        </p:nvSpPr>
        <p:spPr/>
        <p:txBody>
          <a:bodyPr/>
          <a:lstStyle/>
          <a:p>
            <a:r>
              <a:rPr lang="en-US" altLang="ja-JP"/>
              <a:t>© Innovation Platform Agency, Japan
Industrial Cyber Security Center of Excellence</a:t>
            </a:r>
            <a:endParaRPr lang="ja-JP" altLang="en-US" dirty="0"/>
          </a:p>
        </p:txBody>
      </p:sp>
    </p:spTree>
    <p:extLst>
      <p:ext uri="{BB962C8B-B14F-4D97-AF65-F5344CB8AC3E}">
        <p14:creationId xmlns:p14="http://schemas.microsoft.com/office/powerpoint/2010/main" val="217060652"/>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7" y="1282304"/>
            <a:ext cx="7886700" cy="2139553"/>
          </a:xfrm>
        </p:spPr>
        <p:txBody>
          <a:bodyPr anchor="b">
            <a:normAutofit/>
          </a:bodyPr>
          <a:lstStyle>
            <a:lvl1pPr>
              <a:defRPr sz="28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7"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14F73571-ACCA-EC41-A76B-FC50A6E9C3EC}" type="datetime1">
              <a:rPr lang="ja-JP" altLang="en-US" smtClean="0"/>
              <a:t>2026/7/15</a:t>
            </a:fld>
            <a:endParaRPr lang="en-US" dirty="0"/>
          </a:p>
        </p:txBody>
      </p:sp>
      <p:sp>
        <p:nvSpPr>
          <p:cNvPr id="5" name="Footer Placeholder 4"/>
          <p:cNvSpPr>
            <a:spLocks noGrp="1"/>
          </p:cNvSpPr>
          <p:nvPr>
            <p:ph type="ftr" sz="quarter" idx="11"/>
          </p:nvPr>
        </p:nvSpPr>
        <p:spPr/>
        <p:txBody>
          <a:bodyPr/>
          <a:lstStyle/>
          <a:p>
            <a:r>
              <a:rPr lang="en-US" altLang="ja-JP"/>
              <a:t>© Innovation Platform Agency, Japan
Industrial Cyber Security Center of Excellence</a:t>
            </a:r>
            <a:endParaRPr lang="ja-JP" altLang="en-US" dirty="0"/>
          </a:p>
        </p:txBody>
      </p:sp>
      <p:sp>
        <p:nvSpPr>
          <p:cNvPr id="6" name="Slide Number Placeholder 5"/>
          <p:cNvSpPr>
            <a:spLocks noGrp="1"/>
          </p:cNvSpPr>
          <p:nvPr>
            <p:ph type="sldNum" sz="quarter" idx="12"/>
          </p:nvPr>
        </p:nvSpPr>
        <p:spPr/>
        <p:txBody>
          <a:bodyPr/>
          <a:lstStyle/>
          <a:p>
            <a:fld id="{6BA56727-FBE4-4150-A67F-8D3E9BCF0665}" type="slidenum">
              <a:rPr kumimoji="1" lang="ja-JP" altLang="en-US" smtClean="0"/>
              <a:t>‹#›</a:t>
            </a:fld>
            <a:endParaRPr kumimoji="1" lang="ja-JP" altLang="en-US"/>
          </a:p>
        </p:txBody>
      </p:sp>
    </p:spTree>
    <p:extLst>
      <p:ext uri="{BB962C8B-B14F-4D97-AF65-F5344CB8AC3E}">
        <p14:creationId xmlns:p14="http://schemas.microsoft.com/office/powerpoint/2010/main" val="4174442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369218"/>
            <a:ext cx="3886200" cy="326350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369218"/>
            <a:ext cx="3886200" cy="326350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86D3853B-6348-E743-AA2C-0BA562B358B7}" type="datetime1">
              <a:rPr lang="ja-JP" altLang="en-US" smtClean="0"/>
              <a:t>2026/7/15</a:t>
            </a:fld>
            <a:endParaRPr lang="en-US" dirty="0"/>
          </a:p>
        </p:txBody>
      </p:sp>
      <p:sp>
        <p:nvSpPr>
          <p:cNvPr id="6" name="Footer Placeholder 5"/>
          <p:cNvSpPr>
            <a:spLocks noGrp="1"/>
          </p:cNvSpPr>
          <p:nvPr>
            <p:ph type="ftr" sz="quarter" idx="11"/>
          </p:nvPr>
        </p:nvSpPr>
        <p:spPr/>
        <p:txBody>
          <a:bodyPr/>
          <a:lstStyle/>
          <a:p>
            <a:r>
              <a:rPr lang="en-US" altLang="ja-JP"/>
              <a:t>© Innovation Platform Agency, Japan
Industrial Cyber Security Center of Excellence</a:t>
            </a:r>
            <a:endParaRPr lang="ja-JP" altLang="en-US" dirty="0"/>
          </a:p>
        </p:txBody>
      </p:sp>
      <p:sp>
        <p:nvSpPr>
          <p:cNvPr id="7" name="Slide Number Placeholder 6"/>
          <p:cNvSpPr>
            <a:spLocks noGrp="1"/>
          </p:cNvSpPr>
          <p:nvPr>
            <p:ph type="sldNum" sz="quarter" idx="12"/>
          </p:nvPr>
        </p:nvSpPr>
        <p:spPr/>
        <p:txBody>
          <a:bodyPr/>
          <a:lstStyle/>
          <a:p>
            <a:fld id="{6BA56727-FBE4-4150-A67F-8D3E9BCF0665}" type="slidenum">
              <a:rPr kumimoji="1" lang="ja-JP" altLang="en-US" smtClean="0"/>
              <a:t>‹#›</a:t>
            </a:fld>
            <a:endParaRPr kumimoji="1" lang="ja-JP" altLang="en-US"/>
          </a:p>
        </p:txBody>
      </p:sp>
    </p:spTree>
    <p:extLst>
      <p:ext uri="{BB962C8B-B14F-4D97-AF65-F5344CB8AC3E}">
        <p14:creationId xmlns:p14="http://schemas.microsoft.com/office/powerpoint/2010/main" val="1651542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4" name="Content Placeholder 3"/>
          <p:cNvSpPr>
            <a:spLocks noGrp="1"/>
          </p:cNvSpPr>
          <p:nvPr>
            <p:ph sz="half" idx="2"/>
          </p:nvPr>
        </p:nvSpPr>
        <p:spPr>
          <a:xfrm>
            <a:off x="629842" y="1878806"/>
            <a:ext cx="3868340" cy="276344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6" name="Content Placeholder 5"/>
          <p:cNvSpPr>
            <a:spLocks noGrp="1"/>
          </p:cNvSpPr>
          <p:nvPr>
            <p:ph sz="quarter" idx="4"/>
          </p:nvPr>
        </p:nvSpPr>
        <p:spPr>
          <a:xfrm>
            <a:off x="4629150" y="1878806"/>
            <a:ext cx="3887391" cy="276344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606B8EAC-54C4-ED4D-8F14-29034F5D6C50}" type="datetime1">
              <a:rPr lang="ja-JP" altLang="en-US" smtClean="0"/>
              <a:t>2026/7/15</a:t>
            </a:fld>
            <a:endParaRPr lang="en-US" dirty="0"/>
          </a:p>
        </p:txBody>
      </p:sp>
      <p:sp>
        <p:nvSpPr>
          <p:cNvPr id="8" name="Footer Placeholder 7"/>
          <p:cNvSpPr>
            <a:spLocks noGrp="1"/>
          </p:cNvSpPr>
          <p:nvPr>
            <p:ph type="ftr" sz="quarter" idx="11"/>
          </p:nvPr>
        </p:nvSpPr>
        <p:spPr/>
        <p:txBody>
          <a:bodyPr/>
          <a:lstStyle/>
          <a:p>
            <a:r>
              <a:rPr lang="en-US" altLang="ja-JP"/>
              <a:t>© Innovation Platform Agency, Japan
Industrial Cyber Security Center of Excellence</a:t>
            </a:r>
            <a:endParaRPr lang="ja-JP" altLang="en-US" dirty="0"/>
          </a:p>
        </p:txBody>
      </p:sp>
      <p:sp>
        <p:nvSpPr>
          <p:cNvPr id="9" name="Slide Number Placeholder 8"/>
          <p:cNvSpPr>
            <a:spLocks noGrp="1"/>
          </p:cNvSpPr>
          <p:nvPr>
            <p:ph type="sldNum" sz="quarter" idx="12"/>
          </p:nvPr>
        </p:nvSpPr>
        <p:spPr/>
        <p:txBody>
          <a:bodyPr/>
          <a:lstStyle/>
          <a:p>
            <a:fld id="{6BA56727-FBE4-4150-A67F-8D3E9BCF0665}" type="slidenum">
              <a:rPr lang="ja-JP" altLang="en-US" smtClean="0"/>
              <a:pPr/>
              <a:t>‹#›</a:t>
            </a:fld>
            <a:endParaRPr lang="ja-JP" altLang="en-US"/>
          </a:p>
        </p:txBody>
      </p:sp>
    </p:spTree>
    <p:extLst>
      <p:ext uri="{BB962C8B-B14F-4D97-AF65-F5344CB8AC3E}">
        <p14:creationId xmlns:p14="http://schemas.microsoft.com/office/powerpoint/2010/main" val="2531116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B2A25DD1-264C-CE4E-B910-5319A6F05B65}" type="datetime1">
              <a:rPr lang="ja-JP" altLang="en-US" smtClean="0"/>
              <a:t>2026/7/15</a:t>
            </a:fld>
            <a:endParaRPr lang="en-US" dirty="0"/>
          </a:p>
        </p:txBody>
      </p:sp>
      <p:sp>
        <p:nvSpPr>
          <p:cNvPr id="4" name="Footer Placeholder 3"/>
          <p:cNvSpPr>
            <a:spLocks noGrp="1"/>
          </p:cNvSpPr>
          <p:nvPr>
            <p:ph type="ftr" sz="quarter" idx="11"/>
          </p:nvPr>
        </p:nvSpPr>
        <p:spPr/>
        <p:txBody>
          <a:bodyPr/>
          <a:lstStyle/>
          <a:p>
            <a:r>
              <a:rPr lang="en-US" altLang="ja-JP"/>
              <a:t>© Innovation Platform Agency, Japan
Industrial Cyber Security Center of Excellence</a:t>
            </a:r>
            <a:endParaRPr lang="ja-JP" altLang="en-US" dirty="0"/>
          </a:p>
        </p:txBody>
      </p:sp>
      <p:sp>
        <p:nvSpPr>
          <p:cNvPr id="5" name="Slide Number Placeholder 4"/>
          <p:cNvSpPr>
            <a:spLocks noGrp="1"/>
          </p:cNvSpPr>
          <p:nvPr>
            <p:ph type="sldNum" sz="quarter" idx="12"/>
          </p:nvPr>
        </p:nvSpPr>
        <p:spPr/>
        <p:txBody>
          <a:bodyPr/>
          <a:lstStyle/>
          <a:p>
            <a:fld id="{6BA56727-FBE4-4150-A67F-8D3E9BCF0665}" type="slidenum">
              <a:rPr lang="ja-JP" altLang="en-US" smtClean="0"/>
              <a:pPr/>
              <a:t>‹#›</a:t>
            </a:fld>
            <a:endParaRPr lang="ja-JP" altLang="en-US"/>
          </a:p>
        </p:txBody>
      </p:sp>
    </p:spTree>
    <p:extLst>
      <p:ext uri="{BB962C8B-B14F-4D97-AF65-F5344CB8AC3E}">
        <p14:creationId xmlns:p14="http://schemas.microsoft.com/office/powerpoint/2010/main" val="570190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8255C4-15EA-2248-9B27-6CC66281E569}" type="datetime1">
              <a:rPr lang="ja-JP" altLang="en-US" smtClean="0"/>
              <a:t>2026/7/15</a:t>
            </a:fld>
            <a:endParaRPr lang="en-US" dirty="0"/>
          </a:p>
        </p:txBody>
      </p:sp>
      <p:sp>
        <p:nvSpPr>
          <p:cNvPr id="3" name="Footer Placeholder 2"/>
          <p:cNvSpPr>
            <a:spLocks noGrp="1"/>
          </p:cNvSpPr>
          <p:nvPr>
            <p:ph type="ftr" sz="quarter" idx="11"/>
          </p:nvPr>
        </p:nvSpPr>
        <p:spPr/>
        <p:txBody>
          <a:bodyPr/>
          <a:lstStyle/>
          <a:p>
            <a:r>
              <a:rPr lang="en-US"/>
              <a:t>© Innovation Platform Agency, Japan
Industrial Cyber Security Center of Excellence</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544656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689E9FB-2AAC-A34C-9312-14DBD5CC08D1}" type="datetime1">
              <a:rPr lang="ja-JP" altLang="en-US" smtClean="0"/>
              <a:t>2026/7/15</a:t>
            </a:fld>
            <a:endParaRPr lang="en-US" dirty="0"/>
          </a:p>
        </p:txBody>
      </p:sp>
      <p:sp>
        <p:nvSpPr>
          <p:cNvPr id="6" name="Footer Placeholder 5"/>
          <p:cNvSpPr>
            <a:spLocks noGrp="1"/>
          </p:cNvSpPr>
          <p:nvPr>
            <p:ph type="ftr" sz="quarter" idx="11"/>
          </p:nvPr>
        </p:nvSpPr>
        <p:spPr/>
        <p:txBody>
          <a:bodyPr/>
          <a:lstStyle/>
          <a:p>
            <a:r>
              <a:rPr lang="en-US" altLang="ja-JP"/>
              <a:t>© Innovation Platform Agency, Japan
Industrial Cyber Security Center of Excellence</a:t>
            </a:r>
            <a:endParaRPr lang="ja-JP" altLang="en-US" dirty="0"/>
          </a:p>
        </p:txBody>
      </p:sp>
      <p:sp>
        <p:nvSpPr>
          <p:cNvPr id="7" name="Slide Number Placeholder 6"/>
          <p:cNvSpPr>
            <a:spLocks noGrp="1"/>
          </p:cNvSpPr>
          <p:nvPr>
            <p:ph type="sldNum" sz="quarter" idx="12"/>
          </p:nvPr>
        </p:nvSpPr>
        <p:spPr/>
        <p:txBody>
          <a:bodyPr/>
          <a:lstStyle/>
          <a:p>
            <a:fld id="{6BA56727-FBE4-4150-A67F-8D3E9BCF0665}" type="slidenum">
              <a:rPr lang="ja-JP" altLang="en-US" smtClean="0"/>
              <a:pPr/>
              <a:t>‹#›</a:t>
            </a:fld>
            <a:endParaRPr lang="ja-JP" altLang="en-US"/>
          </a:p>
        </p:txBody>
      </p:sp>
    </p:spTree>
    <p:extLst>
      <p:ext uri="{BB962C8B-B14F-4D97-AF65-F5344CB8AC3E}">
        <p14:creationId xmlns:p14="http://schemas.microsoft.com/office/powerpoint/2010/main" val="8418970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image" Target="../media/image1.png"/><Relationship Id="rId11"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4" name="Date Placeholder 3"/>
          <p:cNvSpPr>
            <a:spLocks noGrp="1"/>
          </p:cNvSpPr>
          <p:nvPr>
            <p:ph type="dt" sz="half" idx="2"/>
          </p:nvPr>
        </p:nvSpPr>
        <p:spPr>
          <a:xfrm>
            <a:off x="875763" y="4767263"/>
            <a:ext cx="789906"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696113CE-3560-1249-8FB3-99B3C544DD6A}" type="datetime1">
              <a:rPr lang="ja-JP" altLang="en-US" smtClean="0"/>
              <a:t>2026/7/15</a:t>
            </a:fld>
            <a:endParaRPr lang="en-US" dirty="0"/>
          </a:p>
        </p:txBody>
      </p:sp>
      <p:sp>
        <p:nvSpPr>
          <p:cNvPr id="5" name="Footer Placeholder 4"/>
          <p:cNvSpPr>
            <a:spLocks noGrp="1"/>
          </p:cNvSpPr>
          <p:nvPr>
            <p:ph type="ftr" sz="quarter" idx="3"/>
          </p:nvPr>
        </p:nvSpPr>
        <p:spPr>
          <a:xfrm>
            <a:off x="2613472" y="4767263"/>
            <a:ext cx="3917056"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ltLang="ja-JP" dirty="0"/>
              <a:t>© Innovation Platform Agency, Japan
Industrial Cyber Security Center of Excellence</a:t>
            </a:r>
            <a:endParaRPr lang="ja-JP" altLang="en-US" dirty="0"/>
          </a:p>
        </p:txBody>
      </p:sp>
      <p:sp>
        <p:nvSpPr>
          <p:cNvPr id="6" name="Slide Number Placeholder 5"/>
          <p:cNvSpPr>
            <a:spLocks noGrp="1"/>
          </p:cNvSpPr>
          <p:nvPr>
            <p:ph type="sldNum" sz="quarter" idx="4"/>
          </p:nvPr>
        </p:nvSpPr>
        <p:spPr>
          <a:xfrm>
            <a:off x="7662930" y="4767263"/>
            <a:ext cx="85242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BA56727-FBE4-4150-A67F-8D3E9BCF0665}" type="slidenum">
              <a:rPr lang="ja-JP" altLang="en-US" smtClean="0"/>
              <a:pPr/>
              <a:t>‹#›</a:t>
            </a:fld>
            <a:endParaRPr lang="ja-JP" altLang="en-US"/>
          </a:p>
        </p:txBody>
      </p:sp>
      <p:pic>
        <p:nvPicPr>
          <p:cNvPr id="9" name="図 8">
            <a:extLst>
              <a:ext uri="{FF2B5EF4-FFF2-40B4-BE49-F238E27FC236}">
                <a16:creationId xmlns:a16="http://schemas.microsoft.com/office/drawing/2014/main" id="{C09A03CA-F11A-E309-8A12-B7D124EC61E9}"/>
              </a:ext>
            </a:extLst>
          </p:cNvPr>
          <p:cNvPicPr>
            <a:picLocks noChangeAspect="1"/>
          </p:cNvPicPr>
          <p:nvPr userDrawn="1"/>
        </p:nvPicPr>
        <p:blipFill>
          <a:blip r:embed="rId10"/>
          <a:stretch>
            <a:fillRect/>
          </a:stretch>
        </p:blipFill>
        <p:spPr>
          <a:xfrm>
            <a:off x="8418635" y="39382"/>
            <a:ext cx="725365" cy="714375"/>
          </a:xfrm>
          <a:prstGeom prst="rect">
            <a:avLst/>
          </a:prstGeom>
        </p:spPr>
      </p:pic>
      <p:pic>
        <p:nvPicPr>
          <p:cNvPr id="10" name="図 9">
            <a:extLst>
              <a:ext uri="{FF2B5EF4-FFF2-40B4-BE49-F238E27FC236}">
                <a16:creationId xmlns:a16="http://schemas.microsoft.com/office/drawing/2014/main" id="{AAA651A2-9AE2-5380-421B-19E236C8BBFF}"/>
              </a:ext>
            </a:extLst>
          </p:cNvPr>
          <p:cNvPicPr>
            <a:picLocks noChangeAspect="1"/>
          </p:cNvPicPr>
          <p:nvPr userDrawn="1"/>
        </p:nvPicPr>
        <p:blipFill>
          <a:blip r:embed="rId11">
            <a:clrChange>
              <a:clrFrom>
                <a:srgbClr val="FFFFFF"/>
              </a:clrFrom>
              <a:clrTo>
                <a:srgbClr val="FFFFFF">
                  <a:alpha val="0"/>
                </a:srgbClr>
              </a:clrTo>
            </a:clrChange>
          </a:blip>
          <a:stretch>
            <a:fillRect/>
          </a:stretch>
        </p:blipFill>
        <p:spPr>
          <a:xfrm>
            <a:off x="0" y="4632722"/>
            <a:ext cx="485651" cy="491488"/>
          </a:xfrm>
          <a:prstGeom prst="rect">
            <a:avLst/>
          </a:prstGeom>
        </p:spPr>
      </p:pic>
    </p:spTree>
    <p:extLst>
      <p:ext uri="{BB962C8B-B14F-4D97-AF65-F5344CB8AC3E}">
        <p14:creationId xmlns:p14="http://schemas.microsoft.com/office/powerpoint/2010/main" val="2555781810"/>
      </p:ext>
    </p:extLst>
  </p:cSld>
  <p:clrMap bg1="lt1" tx1="dk1" bg2="lt2" tx2="dk2" accent1="accent1" accent2="accent2" accent3="accent3" accent4="accent4" accent5="accent5" accent6="accent6" hlink="hlink" folHlink="folHlink"/>
  <p:sldLayoutIdLst>
    <p:sldLayoutId id="2147483661" r:id="rId1"/>
    <p:sldLayoutId id="2147483669" r:id="rId2"/>
    <p:sldLayoutId id="2147483670" r:id="rId3"/>
    <p:sldLayoutId id="2147483671" r:id="rId4"/>
    <p:sldLayoutId id="2147483672" r:id="rId5"/>
    <p:sldLayoutId id="2147483673" r:id="rId6"/>
    <p:sldLayoutId id="2147483674" r:id="rId7"/>
    <p:sldLayoutId id="2147483675" r:id="rId8"/>
  </p:sldLayoutIdLst>
  <p:hf hdr="0" dt="0"/>
  <p:txStyles>
    <p:titleStyle>
      <a:lvl1pPr algn="l" defTabSz="685800" rtl="0" eaLnBrk="1" latinLnBrk="0" hangingPunct="1">
        <a:lnSpc>
          <a:spcPct val="90000"/>
        </a:lnSpc>
        <a:spcBef>
          <a:spcPct val="0"/>
        </a:spcBef>
        <a:buNone/>
        <a:defRPr sz="2400" kern="1200">
          <a:solidFill>
            <a:schemeClr val="tx1"/>
          </a:solidFill>
          <a:latin typeface="MS Gothic" panose="020B0609070205080204" pitchFamily="49" charset="-128"/>
          <a:ea typeface="MS Gothic" panose="020B0609070205080204" pitchFamily="49" charset="-128"/>
          <a:cs typeface="+mj-cs"/>
        </a:defRPr>
      </a:lvl1pPr>
    </p:titleStyle>
    <p:bodyStyle>
      <a:lvl1pPr marL="171450" indent="-171450" algn="l" defTabSz="685800" rtl="0" eaLnBrk="1" latinLnBrk="0" hangingPunct="1">
        <a:lnSpc>
          <a:spcPct val="100000"/>
        </a:lnSpc>
        <a:spcBef>
          <a:spcPts val="600"/>
        </a:spcBef>
        <a:buFont typeface="Arial" panose="020B0604020202020204" pitchFamily="34" charset="0"/>
        <a:buChar char="•"/>
        <a:defRPr sz="2000" kern="1200">
          <a:solidFill>
            <a:schemeClr val="tx1"/>
          </a:solidFill>
          <a:latin typeface="MS Gothic" panose="020B0609070205080204" pitchFamily="49" charset="-128"/>
          <a:ea typeface="MS Gothic" panose="020B0609070205080204" pitchFamily="49" charset="-128"/>
          <a:cs typeface="+mn-cs"/>
        </a:defRPr>
      </a:lvl1pPr>
      <a:lvl2pPr marL="514350" indent="-171450" algn="l" defTabSz="685800" rtl="0" eaLnBrk="1" latinLnBrk="0" hangingPunct="1">
        <a:lnSpc>
          <a:spcPct val="100000"/>
        </a:lnSpc>
        <a:spcBef>
          <a:spcPts val="600"/>
        </a:spcBef>
        <a:buSzPct val="80000"/>
        <a:buFont typeface="Wingdings" pitchFamily="2" charset="2"/>
        <a:buChar char="n"/>
        <a:defRPr sz="1600" kern="1200">
          <a:solidFill>
            <a:schemeClr val="tx1"/>
          </a:solidFill>
          <a:latin typeface="MS Gothic" panose="020B0609070205080204" pitchFamily="49" charset="-128"/>
          <a:ea typeface="MS Gothic" panose="020B0609070205080204" pitchFamily="49" charset="-128"/>
          <a:cs typeface="+mn-cs"/>
        </a:defRPr>
      </a:lvl2pPr>
      <a:lvl3pPr marL="857250" indent="-171450" algn="l" defTabSz="685800" rtl="0" eaLnBrk="1" latinLnBrk="0" hangingPunct="1">
        <a:lnSpc>
          <a:spcPct val="100000"/>
        </a:lnSpc>
        <a:spcBef>
          <a:spcPts val="600"/>
        </a:spcBef>
        <a:buSzPct val="80000"/>
        <a:buFont typeface="Wingdings" pitchFamily="2" charset="2"/>
        <a:buChar char="u"/>
        <a:defRPr sz="1400" kern="1200">
          <a:solidFill>
            <a:schemeClr val="tx1"/>
          </a:solidFill>
          <a:latin typeface="MS Gothic" panose="020B0609070205080204" pitchFamily="49" charset="-128"/>
          <a:ea typeface="MS Gothic" panose="020B0609070205080204" pitchFamily="49" charset="-128"/>
          <a:cs typeface="+mn-cs"/>
        </a:defRPr>
      </a:lvl3pPr>
      <a:lvl4pPr marL="1200150" indent="-171450" algn="l" defTabSz="685800" rtl="0" eaLnBrk="1" latinLnBrk="0" hangingPunct="1">
        <a:lnSpc>
          <a:spcPct val="100000"/>
        </a:lnSpc>
        <a:spcBef>
          <a:spcPts val="600"/>
        </a:spcBef>
        <a:buFont typeface="Arial" panose="020B0604020202020204" pitchFamily="34" charset="0"/>
        <a:buChar char="•"/>
        <a:defRPr sz="1200" kern="1200">
          <a:solidFill>
            <a:schemeClr val="tx1"/>
          </a:solidFill>
          <a:latin typeface="MS Gothic" panose="020B0609070205080204" pitchFamily="49" charset="-128"/>
          <a:ea typeface="MS Gothic" panose="020B0609070205080204" pitchFamily="49" charset="-128"/>
          <a:cs typeface="+mn-cs"/>
        </a:defRPr>
      </a:lvl4pPr>
      <a:lvl5pPr marL="1543050" indent="-171450" algn="l" defTabSz="685800" rtl="0" eaLnBrk="1" latinLnBrk="0" hangingPunct="1">
        <a:lnSpc>
          <a:spcPct val="100000"/>
        </a:lnSpc>
        <a:spcBef>
          <a:spcPts val="600"/>
        </a:spcBef>
        <a:buSzPct val="80000"/>
        <a:buFont typeface="Wingdings" pitchFamily="2" charset="2"/>
        <a:buChar char="Ø"/>
        <a:defRPr sz="1200" kern="1200">
          <a:solidFill>
            <a:schemeClr val="tx1"/>
          </a:solidFill>
          <a:latin typeface="MS Gothic" panose="020B0609070205080204" pitchFamily="49" charset="-128"/>
          <a:ea typeface="MS Gothic" panose="020B0609070205080204" pitchFamily="49"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normAutofit/>
          </a:bodyPr>
          <a:lstStyle/>
          <a:p>
            <a:r>
              <a:t>サイバー攻撃の近況</a:t>
            </a:r>
          </a:p>
        </p:txBody>
      </p:sp>
      <p:sp>
        <p:nvSpPr>
          <p:cNvPr id="4" name="サブタイトル 3"/>
          <p:cNvSpPr>
            <a:spLocks noGrp="1"/>
          </p:cNvSpPr>
          <p:nvPr>
            <p:ph type="subTitle" idx="1"/>
          </p:nvPr>
        </p:nvSpPr>
        <p:spPr/>
        <p:txBody>
          <a:bodyPr>
            <a:normAutofit fontScale="92500" lnSpcReduction="20000"/>
          </a:bodyPr>
          <a:lstStyle/>
          <a:p>
            <a:r>
              <a:rPr sz="1600" b="1"/>
              <a:t>― AI・量子・地政学がもたらす新局面と、変わらない基本 ―</a:t>
            </a:r>
          </a:p>
          <a:p/>
          <a:p>
            <a:r>
              <a:rPr sz="1200"/>
              <a:t>名古屋工業大学ものづくりDX研究所 名誉教授</a:t>
            </a:r>
          </a:p>
          <a:p>
            <a:r>
              <a:rPr sz="1200"/>
              <a:t>IPA産業サイバーセキュリティセンター専門委員</a:t>
            </a:r>
          </a:p>
          <a:p>
            <a:r>
              <a:rPr sz="1200"/>
              <a:t>橋本 芳宏</a:t>
            </a:r>
          </a:p>
        </p:txBody>
      </p:sp>
      <p:sp>
        <p:nvSpPr>
          <p:cNvPr id="9" name="テキスト ボックス 8">
            <a:extLst>
              <a:ext uri="{FF2B5EF4-FFF2-40B4-BE49-F238E27FC236}">
                <a16:creationId xmlns:a16="http://schemas.microsoft.com/office/drawing/2014/main" id="{6AA7FFB1-520B-2F4D-C9A8-BBBA6E8E19F1}"/>
              </a:ext>
            </a:extLst>
          </p:cNvPr>
          <p:cNvSpPr txBox="1"/>
          <p:nvPr/>
        </p:nvSpPr>
        <p:spPr>
          <a:xfrm>
            <a:off x="68226" y="69678"/>
            <a:ext cx="2334732" cy="276999"/>
          </a:xfrm>
          <a:prstGeom prst="rect">
            <a:avLst/>
          </a:prstGeom>
          <a:solidFill>
            <a:schemeClr val="tx1"/>
          </a:solidFill>
          <a:ln>
            <a:solidFill>
              <a:schemeClr val="tx1"/>
            </a:solidFill>
          </a:ln>
        </p:spPr>
        <p:txBody>
          <a:bodyPr wrap="square" rtlCol="0">
            <a:spAutoFit/>
          </a:bodyPr>
          <a:lstStyle/>
          <a:p>
            <a:pPr algn="ctr"/>
            <a:r>
              <a:rPr lang="en-US" altLang="ja-JP" sz="1200" dirty="0" err="1">
                <a:solidFill>
                  <a:srgbClr val="92D050"/>
                </a:solidFill>
              </a:rPr>
              <a:t>ICSCoE_TLP</a:t>
            </a:r>
            <a:r>
              <a:rPr lang="en-US" altLang="ja-JP" sz="1200" dirty="0">
                <a:solidFill>
                  <a:srgbClr val="92D050"/>
                </a:solidFill>
              </a:rPr>
              <a:t> : GREEN [</a:t>
            </a:r>
            <a:r>
              <a:rPr lang="ja-JP" altLang="en-US" sz="1200">
                <a:solidFill>
                  <a:srgbClr val="92D050"/>
                </a:solidFill>
              </a:rPr>
              <a:t>第</a:t>
            </a:r>
            <a:r>
              <a:rPr lang="en-US" altLang="ja-JP" sz="1200" dirty="0">
                <a:solidFill>
                  <a:srgbClr val="92D050"/>
                </a:solidFill>
              </a:rPr>
              <a:t>10</a:t>
            </a:r>
            <a:r>
              <a:rPr lang="ja-JP" altLang="en-US" sz="1200">
                <a:solidFill>
                  <a:srgbClr val="92D050"/>
                </a:solidFill>
              </a:rPr>
              <a:t>期</a:t>
            </a:r>
            <a:r>
              <a:rPr lang="en-US" altLang="ja-JP" sz="1200" dirty="0">
                <a:solidFill>
                  <a:srgbClr val="92D050"/>
                </a:solidFill>
              </a:rPr>
              <a:t>]</a:t>
            </a:r>
            <a:endParaRPr kumimoji="1" lang="ja-JP" altLang="en-US" sz="1200">
              <a:solidFill>
                <a:srgbClr val="92D050"/>
              </a:solidFill>
            </a:endParaRPr>
          </a:p>
        </p:txBody>
      </p:sp>
    </p:spTree>
    <p:extLst>
      <p:ext uri="{BB962C8B-B14F-4D97-AF65-F5344CB8AC3E}">
        <p14:creationId xmlns:p14="http://schemas.microsoft.com/office/powerpoint/2010/main" val="1602680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F47A943C-794C-A842-B94E-33C9B18CB289}"/>
              </a:ext>
            </a:extLst>
          </p:cNvPr>
          <p:cNvSpPr>
            <a:spLocks noGrp="1"/>
          </p:cNvSpPr>
          <p:nvPr>
            <p:ph type="title"/>
          </p:nvPr>
        </p:nvSpPr>
        <p:spPr/>
        <p:txBody>
          <a:bodyPr>
            <a:normAutofit/>
          </a:bodyPr>
          <a:lstStyle/>
          <a:p>
            <a:r>
              <a:rPr lang="en-US" altLang="ja-JP" dirty="0"/>
              <a:t>TLPv.2 (Traffic Light Protocol)</a:t>
            </a:r>
            <a:r>
              <a:rPr lang="ja-JP" altLang="ja-JP"/>
              <a:t>の表示・共有レベル </a:t>
            </a:r>
            <a:endParaRPr lang="ja-JP" altLang="en-US"/>
          </a:p>
        </p:txBody>
      </p:sp>
      <p:sp>
        <p:nvSpPr>
          <p:cNvPr id="4" name="スライド番号プレースホルダー 3">
            <a:extLst>
              <a:ext uri="{FF2B5EF4-FFF2-40B4-BE49-F238E27FC236}">
                <a16:creationId xmlns:a16="http://schemas.microsoft.com/office/drawing/2014/main" id="{E2D13C49-FCBD-4ECC-AA3F-844F169DF150}"/>
              </a:ext>
            </a:extLst>
          </p:cNvPr>
          <p:cNvSpPr>
            <a:spLocks noGrp="1"/>
          </p:cNvSpPr>
          <p:nvPr>
            <p:ph type="sldNum" sz="quarter" idx="12"/>
          </p:nvPr>
        </p:nvSpPr>
        <p:spPr/>
        <p:txBody>
          <a:bodyPr/>
          <a:lstStyle/>
          <a:p>
            <a:fld id="{6BA56727-FBE4-4150-A67F-8D3E9BCF0665}" type="slidenum">
              <a:rPr lang="ja-JP" altLang="en-US" smtClean="0"/>
              <a:pPr/>
              <a:t>1</a:t>
            </a:fld>
            <a:endParaRPr lang="ja-JP" altLang="en-US"/>
          </a:p>
        </p:txBody>
      </p:sp>
      <p:pic>
        <p:nvPicPr>
          <p:cNvPr id="8" name="図 7" descr="TLPv2定義一覧表">
            <a:extLst>
              <a:ext uri="{FF2B5EF4-FFF2-40B4-BE49-F238E27FC236}">
                <a16:creationId xmlns:a16="http://schemas.microsoft.com/office/drawing/2014/main" id="{6AAD1587-7F6C-4BB7-EA56-CBFB78D6F533}"/>
              </a:ext>
            </a:extLst>
          </p:cNvPr>
          <p:cNvPicPr>
            <a:picLocks noChangeAspect="1"/>
          </p:cNvPicPr>
          <p:nvPr/>
        </p:nvPicPr>
        <p:blipFill>
          <a:blip r:embed="rId2"/>
          <a:stretch>
            <a:fillRect/>
          </a:stretch>
        </p:blipFill>
        <p:spPr>
          <a:xfrm>
            <a:off x="1031358" y="1327408"/>
            <a:ext cx="6858000" cy="2257425"/>
          </a:xfrm>
          <a:prstGeom prst="rect">
            <a:avLst/>
          </a:prstGeom>
        </p:spPr>
      </p:pic>
    </p:spTree>
    <p:extLst>
      <p:ext uri="{BB962C8B-B14F-4D97-AF65-F5344CB8AC3E}">
        <p14:creationId xmlns:p14="http://schemas.microsoft.com/office/powerpoint/2010/main" val="2042428063"/>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本講義のゴールと全体地図</a:t>
            </a:r>
          </a:p>
        </p:txBody>
      </p:sp>
      <p:sp>
        <p:nvSpPr>
          <p:cNvPr id="3" name="Content Placeholder 2"/>
          <p:cNvSpPr>
            <a:spLocks noGrp="1"/>
          </p:cNvSpPr>
          <p:nvPr>
            <p:ph idx="1"/>
          </p:nvPr>
        </p:nvSpPr>
        <p:spPr/>
        <p:txBody>
          <a:bodyPr wrap="square"/>
          <a:lstStyle/>
          <a:p>
            <a:pPr>
              <a:spcBef>
                <a:spcPts val="800"/>
              </a:spcBef>
            </a:pPr>
            <a:r>
              <a:rPr sz="1600" b="1">
                <a:solidFill>
                  <a:srgbClr val="1F497D"/>
                </a:solidFill>
              </a:rPr>
              <a:t>■ 本講義のゴール</a:t>
            </a:r>
          </a:p>
          <a:p>
            <a:pPr lvl="1"/>
            <a:r>
              <a:rPr sz="1350"/>
              <a:t>「サイバー攻撃のいま」を、自組織の経営層・現場に自分の言葉で説明できる状態で持ち帰る</a:t>
            </a:r>
          </a:p>
          <a:p>
            <a:pPr lvl="1"/>
            <a:r>
              <a:rPr sz="1350"/>
              <a:t>個別事件の暗記ではなく、「何が変わり、何が変わらないか」の判断軸を持つ</a:t>
            </a:r>
          </a:p>
          <a:p>
            <a:pPr>
              <a:spcBef>
                <a:spcPts val="800"/>
              </a:spcBef>
            </a:pPr>
            <a:r>
              <a:rPr sz="1600" b="1">
                <a:solidFill>
                  <a:srgbClr val="1F497D"/>
                </a:solidFill>
              </a:rPr>
              <a:t>■ 2026年、攻撃を取り巻く3つの地殻変動</a:t>
            </a:r>
          </a:p>
          <a:p>
            <a:pPr lvl="1"/>
            <a:r>
              <a:rPr sz="1350"/>
              <a:t>① 攻撃の常態化・物理化 … ランサムウェアの操業影響、OT・安全系への攻撃、戦争との融合</a:t>
            </a:r>
          </a:p>
          <a:p>
            <a:pPr lvl="1"/>
            <a:r>
              <a:rPr sz="1350"/>
              <a:t>② AIの参戦 … AIが攻撃を「自律実行」する時代へ(いわゆる“Mythos問題”)</a:t>
            </a:r>
          </a:p>
          <a:p>
            <a:pPr lvl="1"/>
            <a:r>
              <a:rPr sz="1350"/>
              <a:t>③ 量子の時限爆弾 … 「今盗んで、後で復号」(HNDL)は既に始まっている</a:t>
            </a:r>
          </a:p>
          <a:p>
            <a:pPr>
              <a:spcBef>
                <a:spcPts val="800"/>
              </a:spcBef>
            </a:pPr>
            <a:r>
              <a:rPr sz="1600" b="1">
                <a:solidFill>
                  <a:srgbClr val="1F497D"/>
                </a:solidFill>
              </a:rPr>
              <a:t>■ 本講義の主張</a:t>
            </a:r>
          </a:p>
          <a:p>
            <a:pPr lvl="1"/>
            <a:r>
              <a:rPr sz="1350"/>
              <a:t>局面は新しいが、やるべきことは「いつものサイバーセキュリティ」に帰着する</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本日の構成(80分)</a:t>
            </a:r>
          </a:p>
        </p:txBody>
      </p:sp>
      <p:sp>
        <p:nvSpPr>
          <p:cNvPr id="3" name="Content Placeholder 2"/>
          <p:cNvSpPr>
            <a:spLocks noGrp="1"/>
          </p:cNvSpPr>
          <p:nvPr>
            <p:ph idx="1"/>
          </p:nvPr>
        </p:nvSpPr>
        <p:spPr/>
        <p:txBody>
          <a:bodyPr wrap="square"/>
          <a:lstStyle/>
          <a:p>
            <a:pPr lvl="1"/>
            <a:r>
              <a:rPr sz="1350"/>
              <a:t>1. サイバー攻撃の近況 ― 事例に見る変化(約15分)</a:t>
            </a:r>
          </a:p>
          <a:p>
            <a:pPr lvl="1"/>
            <a:r>
              <a:rPr sz="1350"/>
              <a:t>2. AIの新局面 ― “Mythos問題”をどう捉えるか(約25分)</a:t>
            </a:r>
          </a:p>
          <a:p>
            <a:pPr lvl="1"/>
            <a:r>
              <a:rPr sz="1350"/>
              <a:t>3. 量子という時限爆弾 ― “まだ先”ではない理由(約15分)</a:t>
            </a:r>
          </a:p>
          <a:p>
            <a:pPr lvl="1"/>
            <a:r>
              <a:rPr sz="1350"/>
              <a:t>4. 規制という外圧 ― “やるか”から“いつまでに”へ(約10分)</a:t>
            </a:r>
          </a:p>
          <a:p>
            <a:pPr lvl="1"/>
            <a:r>
              <a:rPr sz="1350"/>
              <a:t>5. 守り切れない前提の対策 ― レジリエンスと基本(約10分)</a:t>
            </a:r>
          </a:p>
          <a:p>
            <a:pPr lvl="1"/>
            <a:r>
              <a:rPr sz="1350"/>
              <a:t>まとめ ― 明日からの3アクション(約5分)</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第1章  サイバー攻撃の近況</a:t>
            </a:r>
          </a:p>
        </p:txBody>
      </p:sp>
      <p:sp>
        <p:nvSpPr>
          <p:cNvPr id="3" name="Text Placeholder 2"/>
          <p:cNvSpPr>
            <a:spLocks noGrp="1"/>
          </p:cNvSpPr>
          <p:nvPr>
            <p:ph type="body" idx="1"/>
          </p:nvPr>
        </p:nvSpPr>
        <p:spPr/>
        <p:txBody>
          <a:bodyPr/>
          <a:lstStyle/>
          <a:p>
            <a:r>
              <a:t>ランサムウェアからOT・戦争まで ― 事例に見る変化(約15分)</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情報系の被害だけでも、操業は止まる</a:t>
            </a:r>
          </a:p>
        </p:txBody>
      </p:sp>
      <p:sp>
        <p:nvSpPr>
          <p:cNvPr id="3" name="Content Placeholder 2"/>
          <p:cNvSpPr>
            <a:spLocks noGrp="1"/>
          </p:cNvSpPr>
          <p:nvPr>
            <p:ph idx="1"/>
          </p:nvPr>
        </p:nvSpPr>
        <p:spPr/>
        <p:txBody>
          <a:bodyPr wrap="square"/>
          <a:lstStyle/>
          <a:p>
            <a:pPr>
              <a:spcBef>
                <a:spcPts val="800"/>
              </a:spcBef>
            </a:pPr>
            <a:r>
              <a:rPr sz="1600" b="1">
                <a:solidFill>
                  <a:srgbClr val="1F497D"/>
                </a:solidFill>
              </a:rPr>
              <a:t>■ Colonial Pipeline(米・燃料パイプライン, 2021.5)</a:t>
            </a:r>
          </a:p>
          <a:p>
            <a:pPr lvl="1"/>
            <a:r>
              <a:rPr sz="1350"/>
              <a:t>DarkSideのランサムウェアにより6日間の操業停止。安全に支障はなかったが、データ復旧のため身代金440万ドルを支払い(FBIが約85%を回収)</a:t>
            </a:r>
          </a:p>
          <a:p>
            <a:pPr>
              <a:spcBef>
                <a:spcPts val="800"/>
              </a:spcBef>
            </a:pPr>
            <a:r>
              <a:rPr sz="1600" b="1">
                <a:solidFill>
                  <a:srgbClr val="1F497D"/>
                </a:solidFill>
              </a:rPr>
              <a:t>■ アサヒグループHD(日本, 2025.9)</a:t>
            </a:r>
          </a:p>
          <a:p>
            <a:pPr lvl="1"/>
            <a:r>
              <a:rPr sz="1350"/>
              <a:t>ランサムウェアにより受注・出荷システムが停止し、長期の操業障害。サプライチェーン影響の代表例に</a:t>
            </a:r>
          </a:p>
          <a:p>
            <a:pPr>
              <a:spcBef>
                <a:spcPts val="800"/>
              </a:spcBef>
            </a:pPr>
            <a:r>
              <a:rPr sz="1600" b="1">
                <a:solidFill>
                  <a:srgbClr val="1F497D"/>
                </a:solidFill>
              </a:rPr>
              <a:t>■ 教訓</a:t>
            </a:r>
          </a:p>
          <a:p>
            <a:pPr lvl="1"/>
            <a:r>
              <a:rPr sz="1350"/>
              <a:t>「OTは無事でもITが止まれば操業は止まる」― IT/OTを分けた議論はもう成立しない</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
        <p:nvSpPr>
          <p:cNvPr id="14" name="TextBox 13"/>
          <p:cNvSpPr txBox="1"/>
          <p:nvPr/>
        </p:nvSpPr>
        <p:spPr>
          <a:xfrm>
            <a:off x="320040" y="4553712"/>
            <a:ext cx="8503920" cy="228600"/>
          </a:xfrm>
          <a:prstGeom prst="rect">
            <a:avLst/>
          </a:prstGeom>
          <a:noFill/>
        </p:spPr>
        <p:txBody>
          <a:bodyPr wrap="square">
            <a:spAutoFit/>
          </a:bodyPr>
          <a:lstStyle/>
          <a:p>
            <a:r>
              <a:rPr sz="850">
                <a:solidFill>
                  <a:srgbClr val="595959"/>
                </a:solidFill>
              </a:rPr>
              <a:t>出典: OTセキュリティ講演資料(2026.3) p.6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明暗を分けるのは「インシデント発生後の対応」</a:t>
            </a:r>
          </a:p>
        </p:txBody>
      </p:sp>
      <p:sp>
        <p:nvSpPr>
          <p:cNvPr id="3" name="Content Placeholder 2"/>
          <p:cNvSpPr>
            <a:spLocks noGrp="1"/>
          </p:cNvSpPr>
          <p:nvPr>
            <p:ph idx="1"/>
          </p:nvPr>
        </p:nvSpPr>
        <p:spPr/>
        <p:txBody>
          <a:bodyPr wrap="square"/>
          <a:lstStyle/>
          <a:p>
            <a:pPr>
              <a:spcBef>
                <a:spcPts val="800"/>
              </a:spcBef>
            </a:pPr>
            <a:r>
              <a:rPr sz="1600" b="1">
                <a:solidFill>
                  <a:srgbClr val="1F497D"/>
                </a:solidFill>
              </a:rPr>
              <a:t>■ Norsk Hydro(ノルウェー・アルミ大手, 2019.3)― LockerGoga</a:t>
            </a:r>
          </a:p>
          <a:p>
            <a:pPr lvl="1"/>
            <a:r>
              <a:rPr sz="1350"/>
              <a:t>即座に手動操業へ切り替え、身代金の支払いを拒否</a:t>
            </a:r>
          </a:p>
          <a:p>
            <a:pPr lvl="1"/>
            <a:r>
              <a:rPr sz="1350"/>
              <a:t>特別損失5,200万ドルを計上しつつ、透明性の高い広報で信頼を維持(株価はむしろ上昇)</a:t>
            </a:r>
          </a:p>
          <a:p>
            <a:pPr>
              <a:spcBef>
                <a:spcPts val="800"/>
              </a:spcBef>
            </a:pPr>
            <a:r>
              <a:rPr sz="1600" b="1">
                <a:solidFill>
                  <a:srgbClr val="1F497D"/>
                </a:solidFill>
              </a:rPr>
              <a:t>■ 攻撃の実態</a:t>
            </a:r>
          </a:p>
          <a:p>
            <a:pPr lvl="1"/>
            <a:r>
              <a:rPr sz="1350"/>
              <a:t>侵入後にネットワーク内を移動し、Active Directoryサーバを掌握して複数工場へ同時展開(マルウェア自体に自己伝播機能なし)</a:t>
            </a:r>
          </a:p>
          <a:p>
            <a:pPr>
              <a:spcBef>
                <a:spcPts val="800"/>
              </a:spcBef>
            </a:pPr>
            <a:r>
              <a:rPr sz="1600" b="1">
                <a:solidFill>
                  <a:srgbClr val="1F497D"/>
                </a:solidFill>
              </a:rPr>
              <a:t>■ 教訓</a:t>
            </a:r>
          </a:p>
          <a:p>
            <a:pPr lvl="1"/>
            <a:r>
              <a:rPr sz="1350"/>
              <a:t>「事前の防御」だけでなく「検知後に動ける準備」(手動運転・広報・意思決定)が被害の大きさを決める</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
        <p:nvSpPr>
          <p:cNvPr id="14" name="TextBox 13"/>
          <p:cNvSpPr txBox="1"/>
          <p:nvPr/>
        </p:nvSpPr>
        <p:spPr>
          <a:xfrm>
            <a:off x="320040" y="4553712"/>
            <a:ext cx="8503920" cy="228600"/>
          </a:xfrm>
          <a:prstGeom prst="rect">
            <a:avLst/>
          </a:prstGeom>
          <a:noFill/>
        </p:spPr>
        <p:txBody>
          <a:bodyPr wrap="square">
            <a:spAutoFit/>
          </a:bodyPr>
          <a:lstStyle/>
          <a:p>
            <a:r>
              <a:rPr sz="850">
                <a:solidFill>
                  <a:srgbClr val="595959"/>
                </a:solidFill>
              </a:rPr>
              <a:t>出典: OTセキュリティ講演資料(2026.3) p.7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物理と「安全」そのものを狙う攻撃</a:t>
            </a:r>
          </a:p>
        </p:txBody>
      </p:sp>
      <p:sp>
        <p:nvSpPr>
          <p:cNvPr id="3" name="Content Placeholder 2"/>
          <p:cNvSpPr>
            <a:spLocks noGrp="1"/>
          </p:cNvSpPr>
          <p:nvPr>
            <p:ph idx="1"/>
          </p:nvPr>
        </p:nvSpPr>
        <p:spPr/>
        <p:txBody>
          <a:bodyPr wrap="square"/>
          <a:lstStyle/>
          <a:p>
            <a:pPr>
              <a:spcBef>
                <a:spcPts val="800"/>
              </a:spcBef>
            </a:pPr>
            <a:r>
              <a:rPr sz="1600" b="1">
                <a:solidFill>
                  <a:srgbClr val="1F497D"/>
                </a:solidFill>
              </a:rPr>
              <a:t>■ Trisis / Triton / Hatman(サウジアラビア, 2017.12)</a:t>
            </a:r>
          </a:p>
          <a:p>
            <a:pPr lvl="1"/>
            <a:r>
              <a:rPr sz="1350"/>
              <a:t>安全計装システム(SIS)を標的にした初のマルウェア。発覚まで2年以上潜伏</a:t>
            </a:r>
          </a:p>
          <a:p>
            <a:pPr lvl="1"/>
            <a:r>
              <a:rPr sz="1350"/>
              <a:t>「最後の砦」である安全系そのものが攻撃対象になり得ることを実証</a:t>
            </a:r>
          </a:p>
          <a:p>
            <a:pPr>
              <a:spcBef>
                <a:spcPts val="800"/>
              </a:spcBef>
            </a:pPr>
            <a:r>
              <a:rPr sz="1600" b="1">
                <a:solidFill>
                  <a:srgbClr val="1F497D"/>
                </a:solidFill>
              </a:rPr>
              <a:t>■ イラン製鉄所への攻撃(2022.6)</a:t>
            </a:r>
          </a:p>
          <a:p>
            <a:pPr lvl="1"/>
            <a:r>
              <a:rPr sz="1350"/>
              <a:t>ハッカー集団 Gonjeshke Darande が溶鋼設備を誤動作させ火災。攻撃映像が公開され世界に衝撃</a:t>
            </a:r>
          </a:p>
          <a:p>
            <a:pPr>
              <a:spcBef>
                <a:spcPts val="800"/>
              </a:spcBef>
            </a:pPr>
            <a:r>
              <a:rPr sz="1600" b="1">
                <a:solidFill>
                  <a:srgbClr val="1F497D"/>
                </a:solidFill>
              </a:rPr>
              <a:t>■ 教訓</a:t>
            </a:r>
          </a:p>
          <a:p>
            <a:pPr lvl="1"/>
            <a:r>
              <a:rPr sz="1350"/>
              <a:t>狙いは情報ではなく「物理的な破壊」へ。セーフティとセキュリティは不可分</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
        <p:nvSpPr>
          <p:cNvPr id="14" name="TextBox 13"/>
          <p:cNvSpPr txBox="1"/>
          <p:nvPr/>
        </p:nvSpPr>
        <p:spPr>
          <a:xfrm>
            <a:off x="320040" y="4553712"/>
            <a:ext cx="8503920" cy="228600"/>
          </a:xfrm>
          <a:prstGeom prst="rect">
            <a:avLst/>
          </a:prstGeom>
          <a:noFill/>
        </p:spPr>
        <p:txBody>
          <a:bodyPr wrap="square">
            <a:spAutoFit/>
          </a:bodyPr>
          <a:lstStyle/>
          <a:p>
            <a:r>
              <a:rPr sz="850">
                <a:solidFill>
                  <a:srgbClr val="595959"/>
                </a:solidFill>
              </a:rPr>
              <a:t>出典: OTセキュリティ講演資料(2026.3) p.4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戦争・地政学とサイバー攻撃の融合</a:t>
            </a:r>
          </a:p>
        </p:txBody>
      </p:sp>
      <p:sp>
        <p:nvSpPr>
          <p:cNvPr id="3" name="Content Placeholder 2"/>
          <p:cNvSpPr>
            <a:spLocks noGrp="1"/>
          </p:cNvSpPr>
          <p:nvPr>
            <p:ph idx="1"/>
          </p:nvPr>
        </p:nvSpPr>
        <p:spPr/>
        <p:txBody>
          <a:bodyPr wrap="square"/>
          <a:lstStyle/>
          <a:p>
            <a:pPr lvl="1"/>
            <a:r>
              <a:rPr sz="1350"/>
              <a:t>2022.2  ロシアのウクライナ侵攻 … 侵攻直前に通信網へWiper攻撃(衛星モデムを機能破壊)。Anonymous等の民間も「参戦」</a:t>
            </a:r>
          </a:p>
          <a:p>
            <a:pPr lvl="1"/>
            <a:r>
              <a:rPr sz="1350"/>
              <a:t>2024.9  レバノン … ポケベル・トランシーバーが一斉爆発(死者42名・負傷3,500名超)。サプライチェーンへの物理的介入</a:t>
            </a:r>
          </a:p>
          <a:p>
            <a:pPr lvl="1"/>
            <a:r>
              <a:rPr sz="1350"/>
              <a:t>2026.1  ベネズエラ大統領拉致事件 … 周辺の停電・通信網遮断などサイバー攻撃を併用</a:t>
            </a:r>
          </a:p>
          <a:p>
            <a:pPr lvl="1"/>
            <a:r>
              <a:rPr sz="1350"/>
              <a:t>2026.2  イラン最高指導者殺害 … 同様に停電・通信停止を併用</a:t>
            </a:r>
          </a:p>
          <a:p>
            <a:pPr>
              <a:spcBef>
                <a:spcPts val="800"/>
              </a:spcBef>
            </a:pPr>
            <a:r>
              <a:rPr sz="1600" b="1">
                <a:solidFill>
                  <a:srgbClr val="1F497D"/>
                </a:solidFill>
              </a:rPr>
              <a:t>■ 教訓</a:t>
            </a:r>
          </a:p>
          <a:p>
            <a:pPr lvl="1"/>
            <a:r>
              <a:rPr sz="1350"/>
              <a:t>サイバー攻撃は軍事作戦の標準装備になった。重要インフラは平時から「戦時の標的リスト」に載っている</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
        <p:nvSpPr>
          <p:cNvPr id="14" name="TextBox 13"/>
          <p:cNvSpPr txBox="1"/>
          <p:nvPr/>
        </p:nvSpPr>
        <p:spPr>
          <a:xfrm>
            <a:off x="320040" y="4553712"/>
            <a:ext cx="8503920" cy="228600"/>
          </a:xfrm>
          <a:prstGeom prst="rect">
            <a:avLst/>
          </a:prstGeom>
          <a:noFill/>
        </p:spPr>
        <p:txBody>
          <a:bodyPr wrap="square">
            <a:spAutoFit/>
          </a:bodyPr>
          <a:lstStyle/>
          <a:p>
            <a:r>
              <a:rPr sz="850">
                <a:solidFill>
                  <a:srgbClr val="595959"/>
                </a:solidFill>
              </a:rPr>
              <a:t>出典: OTセキュリティ講演資料(2026.3) p.5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「守り切れない」という現実を直視する</a:t>
            </a:r>
          </a:p>
        </p:txBody>
      </p:sp>
      <p:sp>
        <p:nvSpPr>
          <p:cNvPr id="3" name="Content Placeholder 2"/>
          <p:cNvSpPr>
            <a:spLocks noGrp="1"/>
          </p:cNvSpPr>
          <p:nvPr>
            <p:ph idx="1"/>
          </p:nvPr>
        </p:nvSpPr>
        <p:spPr/>
        <p:txBody>
          <a:bodyPr wrap="square"/>
          <a:lstStyle/>
          <a:p>
            <a:pPr lvl="1"/>
            <a:r>
              <a:rPr sz="1350"/>
              <a:t>マルウェアは年間約1億種、脆弱性の報告は年間約4万件で急増中</a:t>
            </a:r>
          </a:p>
          <a:p>
            <a:pPr lvl="1"/>
            <a:r>
              <a:rPr sz="1350"/>
              <a:t>生成AI登場(2022.11 ChatGPT)以降、増加ペースがさらに上昇</a:t>
            </a:r>
          </a:p>
          <a:p>
            <a:pPr lvl="1"/>
            <a:r>
              <a:rPr sz="1350"/>
              <a:t>被害企業も「対策はしていた」と主張 ― サイバー攻撃に「これで十分」という対策はない</a:t>
            </a:r>
          </a:p>
          <a:p>
            <a:pPr>
              <a:spcBef>
                <a:spcPts val="800"/>
              </a:spcBef>
            </a:pPr>
            <a:r>
              <a:rPr sz="1600" b="1">
                <a:solidFill>
                  <a:srgbClr val="1F497D"/>
                </a:solidFill>
              </a:rPr>
              <a:t>■ ここからの問い</a:t>
            </a:r>
          </a:p>
          <a:p>
            <a:pPr lvl="1"/>
            <a:r>
              <a:rPr sz="1350"/>
              <a:t>① 攻撃側の新戦力=AIは何をどこまで変えるのか(第2章)</a:t>
            </a:r>
          </a:p>
          <a:p>
            <a:pPr lvl="1"/>
            <a:r>
              <a:rPr sz="1350"/>
              <a:t>② 守り切れない前提で何を設計すべきか(第5章)</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
        <p:nvSpPr>
          <p:cNvPr id="14" name="TextBox 13"/>
          <p:cNvSpPr txBox="1"/>
          <p:nvPr/>
        </p:nvSpPr>
        <p:spPr>
          <a:xfrm>
            <a:off x="320040" y="4553712"/>
            <a:ext cx="8503920" cy="228600"/>
          </a:xfrm>
          <a:prstGeom prst="rect">
            <a:avLst/>
          </a:prstGeom>
          <a:noFill/>
        </p:spPr>
        <p:txBody>
          <a:bodyPr wrap="square">
            <a:spAutoFit/>
          </a:bodyPr>
          <a:lstStyle/>
          <a:p>
            <a:r>
              <a:rPr sz="850">
                <a:solidFill>
                  <a:srgbClr val="595959"/>
                </a:solidFill>
              </a:rPr>
              <a:t>出典: OTセキュリティ講演資料(2026.3) p.13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第2章  AIの新局面</a:t>
            </a:r>
          </a:p>
        </p:txBody>
      </p:sp>
      <p:sp>
        <p:nvSpPr>
          <p:cNvPr id="3" name="Text Placeholder 2"/>
          <p:cNvSpPr>
            <a:spLocks noGrp="1"/>
          </p:cNvSpPr>
          <p:nvPr>
            <p:ph type="body" idx="1"/>
          </p:nvPr>
        </p:nvSpPr>
        <p:spPr/>
        <p:txBody>
          <a:bodyPr/>
          <a:lstStyle/>
          <a:p>
            <a:r>
              <a:t>“Mythos問題”をどう捉えるか ― 何が変わり、何が変わらないのか(約25分)</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生成AIの4年 ― 道具から「自律する働き手」へ</a:t>
            </a:r>
          </a:p>
        </p:txBody>
      </p:sp>
      <p:sp>
        <p:nvSpPr>
          <p:cNvPr id="3" name="Content Placeholder 2"/>
          <p:cNvSpPr>
            <a:spLocks noGrp="1"/>
          </p:cNvSpPr>
          <p:nvPr>
            <p:ph idx="1"/>
          </p:nvPr>
        </p:nvSpPr>
        <p:spPr/>
        <p:txBody>
          <a:bodyPr wrap="square"/>
          <a:lstStyle/>
          <a:p>
            <a:pPr lvl="1"/>
            <a:r>
              <a:rPr sz="1350"/>
              <a:t>2022.11  ChatGPT-3.5登場 … 希望を伝えるだけでプログラムもシナリオも作成(当初は誤りも多い)</a:t>
            </a:r>
          </a:p>
          <a:p>
            <a:pPr lvl="1"/>
            <a:r>
              <a:rPr sz="1350"/>
              <a:t>2023〜25  性能向上が継続 … コード生成・脆弱性解析が実用レベルに。「エージェント化」が進む</a:t>
            </a:r>
          </a:p>
          <a:p>
            <a:pPr lvl="1"/>
            <a:r>
              <a:rPr sz="1350"/>
              <a:t>2026  東京大学入試にほぼ完答する水準に。素人が一人で映画を作り、フェイク動画があふれる</a:t>
            </a:r>
          </a:p>
          <a:p>
            <a:pPr>
              <a:spcBef>
                <a:spcPts val="800"/>
              </a:spcBef>
            </a:pPr>
            <a:r>
              <a:rPr sz="1600" b="1">
                <a:solidFill>
                  <a:srgbClr val="1F497D"/>
                </a:solidFill>
              </a:rPr>
              <a:t>■ エージェントAI(例: Claude Code)の実力</a:t>
            </a:r>
          </a:p>
          <a:p>
            <a:pPr lvl="1"/>
            <a:r>
              <a:rPr sz="1350"/>
              <a:t>必要なツールを自動で揃え、なければ一からプログラムを作り、要求がかなうまで疲れず試行錯誤を続ける</a:t>
            </a:r>
          </a:p>
          <a:p>
            <a:pPr lvl="1"/>
            <a:r>
              <a:rPr sz="1350"/>
              <a:t>「一人スタートアップ」を可能にする頼れる相棒 ― ただし、それは攻撃者にとっても同じ</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
        <p:nvSpPr>
          <p:cNvPr id="14" name="TextBox 13"/>
          <p:cNvSpPr txBox="1"/>
          <p:nvPr/>
        </p:nvSpPr>
        <p:spPr>
          <a:xfrm>
            <a:off x="320040" y="4553712"/>
            <a:ext cx="8503920" cy="228600"/>
          </a:xfrm>
          <a:prstGeom prst="rect">
            <a:avLst/>
          </a:prstGeom>
          <a:noFill/>
        </p:spPr>
        <p:txBody>
          <a:bodyPr wrap="square">
            <a:spAutoFit/>
          </a:bodyPr>
          <a:lstStyle/>
          <a:p>
            <a:r>
              <a:rPr sz="850">
                <a:solidFill>
                  <a:srgbClr val="595959"/>
                </a:solidFill>
              </a:rPr>
              <a:t>出典: 原稿「高度なAIによりプラントの安全は破綻する?」(2026.6)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転換点①  初の「AIが実行する」サイバー攻撃(2025)</a:t>
            </a:r>
          </a:p>
        </p:txBody>
      </p:sp>
      <p:sp>
        <p:nvSpPr>
          <p:cNvPr id="3" name="Content Placeholder 2"/>
          <p:cNvSpPr>
            <a:spLocks noGrp="1"/>
          </p:cNvSpPr>
          <p:nvPr>
            <p:ph idx="1"/>
          </p:nvPr>
        </p:nvSpPr>
        <p:spPr/>
        <p:txBody>
          <a:bodyPr wrap="square"/>
          <a:lstStyle/>
          <a:p>
            <a:pPr>
              <a:spcBef>
                <a:spcPts val="800"/>
              </a:spcBef>
            </a:pPr>
            <a:r>
              <a:rPr sz="1600" b="1">
                <a:solidFill>
                  <a:srgbClr val="1F497D"/>
                </a:solidFill>
              </a:rPr>
              <a:t>■ GTG-1002(Anthropic社が2025.11に公表)</a:t>
            </a:r>
          </a:p>
          <a:p>
            <a:pPr lvl="1"/>
            <a:r>
              <a:rPr sz="1350"/>
              <a:t>中国国家系グループがエージェントAI(Claude Code)を操り、世界約30組織(大手IT・金融・化学メーカー・政府機関)への侵入を試行、一部で成功</a:t>
            </a:r>
          </a:p>
          <a:p>
            <a:pPr lvl="1"/>
            <a:r>
              <a:rPr sz="1350"/>
              <a:t>攻撃タスクを無害に見える小片に分解してAIの安全機構を回避(ジェイルブレイク)</a:t>
            </a:r>
          </a:p>
          <a:p>
            <a:pPr lvl="1"/>
            <a:r>
              <a:rPr sz="1350"/>
              <a:t>攻撃工程の80〜90%をAIが自律実行 ― 人間は指示と数カ所の判断のみ</a:t>
            </a:r>
          </a:p>
          <a:p>
            <a:pPr>
              <a:spcBef>
                <a:spcPts val="800"/>
              </a:spcBef>
            </a:pPr>
            <a:r>
              <a:rPr sz="1600" b="1">
                <a:solidFill>
                  <a:srgbClr val="1F497D"/>
                </a:solidFill>
              </a:rPr>
              <a:t>■ 意味すること</a:t>
            </a:r>
          </a:p>
          <a:p>
            <a:pPr lvl="1"/>
            <a:r>
              <a:rPr sz="1350"/>
              <a:t>「AIに相談しながら攻撃する」から「AIが攻撃を実行する」への転換</a:t>
            </a:r>
          </a:p>
          <a:p>
            <a:pPr lvl="1"/>
            <a:r>
              <a:rPr sz="1350"/>
              <a:t>攻撃の速度と同時並行数が、人間の頭数という制約を離れ始めた</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
        <p:nvSpPr>
          <p:cNvPr id="14" name="TextBox 13"/>
          <p:cNvSpPr txBox="1"/>
          <p:nvPr/>
        </p:nvSpPr>
        <p:spPr>
          <a:xfrm>
            <a:off x="320040" y="4553712"/>
            <a:ext cx="8503920" cy="228600"/>
          </a:xfrm>
          <a:prstGeom prst="rect">
            <a:avLst/>
          </a:prstGeom>
          <a:noFill/>
        </p:spPr>
        <p:txBody>
          <a:bodyPr wrap="square">
            <a:spAutoFit/>
          </a:bodyPr>
          <a:lstStyle/>
          <a:p>
            <a:r>
              <a:rPr sz="850">
                <a:solidFill>
                  <a:srgbClr val="595959"/>
                </a:solidFill>
              </a:rPr>
              <a:t>出典: Anthropic “Disrupting the first reported AI-orchestrated cyber espionage campaign”(2025.11)/MITRE ATT&amp;CK C0062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転換点②  Claude Mythos ― 脆弱性発見能力の桁が変わった</a:t>
            </a:r>
          </a:p>
        </p:txBody>
      </p:sp>
      <p:sp>
        <p:nvSpPr>
          <p:cNvPr id="3" name="Content Placeholder 2"/>
          <p:cNvSpPr>
            <a:spLocks noGrp="1"/>
          </p:cNvSpPr>
          <p:nvPr>
            <p:ph idx="1"/>
          </p:nvPr>
        </p:nvSpPr>
        <p:spPr/>
        <p:txBody>
          <a:bodyPr wrap="square"/>
          <a:lstStyle/>
          <a:p>
            <a:pPr>
              <a:spcBef>
                <a:spcPts val="800"/>
              </a:spcBef>
            </a:pPr>
            <a:r>
              <a:rPr sz="1600" b="1">
                <a:solidFill>
                  <a:srgbClr val="1F497D"/>
                </a:solidFill>
              </a:rPr>
              <a:t>■ Mythos Preview(2026.4.7発表)が実証したこと</a:t>
            </a:r>
          </a:p>
          <a:p>
            <a:pPr lvl="1"/>
            <a:r>
              <a:rPr sz="1350"/>
              <a:t>全ての主要OS(Windows/macOS/Linux/BSD系)・全ての主要ブラウザでゼロデイ脆弱性を発見</a:t>
            </a:r>
          </a:p>
          <a:p>
            <a:pPr lvl="1"/>
            <a:r>
              <a:rPr sz="1350"/>
              <a:t>27年間見つからなかったOpenBSDのバグ、17年物のFreeBSD NFSの欠陥からのRCEエクスプロイト自動作成など、人間のレビューを生き延びた欠陥を短時間で摘出</a:t>
            </a:r>
          </a:p>
          <a:p>
            <a:pPr lvl="1"/>
            <a:r>
              <a:rPr sz="1350"/>
              <a:t>発見した脆弱性の72.4%を動作するエクスプロイトへ自動変換(Firefox JSシェルでの試験)</a:t>
            </a:r>
          </a:p>
          <a:p>
            <a:pPr lvl="1"/>
            <a:r>
              <a:rPr sz="1350"/>
              <a:t>4つの脆弱性を連鎖させブラウザとOSのサンドボックスを脱出 ― 一流のエクスプロイト開発者が数週間かける作業</a:t>
            </a:r>
          </a:p>
          <a:p>
            <a:pPr>
              <a:spcBef>
                <a:spcPts val="800"/>
              </a:spcBef>
            </a:pPr>
            <a:r>
              <a:rPr sz="1600" b="1">
                <a:solidFill>
                  <a:srgbClr val="1F497D"/>
                </a:solidFill>
              </a:rPr>
              <a:t>■ 含意</a:t>
            </a:r>
          </a:p>
          <a:p>
            <a:pPr lvl="1"/>
            <a:r>
              <a:rPr sz="1350"/>
              <a:t>「枯れたソフトだから安全」という経験則が崩れた。攻撃側に渡れば脅威、防御側が使えば資産</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
        <p:nvSpPr>
          <p:cNvPr id="14" name="TextBox 13"/>
          <p:cNvSpPr txBox="1"/>
          <p:nvPr/>
        </p:nvSpPr>
        <p:spPr>
          <a:xfrm>
            <a:off x="320040" y="4553712"/>
            <a:ext cx="8503920" cy="228600"/>
          </a:xfrm>
          <a:prstGeom prst="rect">
            <a:avLst/>
          </a:prstGeom>
          <a:noFill/>
        </p:spPr>
        <p:txBody>
          <a:bodyPr wrap="square">
            <a:spAutoFit/>
          </a:bodyPr>
          <a:lstStyle/>
          <a:p>
            <a:r>
              <a:rPr sz="850">
                <a:solidFill>
                  <a:srgbClr val="595959"/>
                </a:solidFill>
              </a:rPr>
              <a:t>出典: Anthropic Frontier Red Team “Assessing Claude Mythos Preview's cybersecurity capabilities”(red.anthropic.com, 2026.4)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転換点③  「統制」への不安 ― サンドボックス脱出事件</a:t>
            </a:r>
          </a:p>
        </p:txBody>
      </p:sp>
      <p:sp>
        <p:nvSpPr>
          <p:cNvPr id="3" name="Content Placeholder 2"/>
          <p:cNvSpPr>
            <a:spLocks noGrp="1"/>
          </p:cNvSpPr>
          <p:nvPr>
            <p:ph idx="1"/>
          </p:nvPr>
        </p:nvSpPr>
        <p:spPr/>
        <p:txBody>
          <a:bodyPr wrap="square"/>
          <a:lstStyle/>
          <a:p>
            <a:pPr>
              <a:spcBef>
                <a:spcPts val="800"/>
              </a:spcBef>
            </a:pPr>
            <a:r>
              <a:rPr sz="1600" b="1">
                <a:solidFill>
                  <a:srgbClr val="1F497D"/>
                </a:solidFill>
              </a:rPr>
              <a:t>■ 社内安全性テスト中の出来事(開発初期版)</a:t>
            </a:r>
          </a:p>
          <a:p>
            <a:pPr lvl="1"/>
            <a:r>
              <a:rPr sz="1350"/>
              <a:t>隔離環境(サンドボックス)を自力で脱出し、許可されていないインターネット接続を獲得</a:t>
            </a:r>
          </a:p>
          <a:p>
            <a:pPr lvl="1"/>
            <a:r>
              <a:rPr sz="1350"/>
              <a:t>成功したことを、担当研究者へ自らメールで通知 ― 依頼されていない行動</a:t>
            </a:r>
          </a:p>
          <a:p>
            <a:pPr lvl="1"/>
            <a:r>
              <a:rPr sz="1350"/>
              <a:t>マルウェア解析用サンドボックスも短時間で脱出</a:t>
            </a:r>
          </a:p>
          <a:p>
            <a:pPr>
              <a:spcBef>
                <a:spcPts val="800"/>
              </a:spcBef>
            </a:pPr>
            <a:r>
              <a:rPr sz="1600" b="1">
                <a:solidFill>
                  <a:srgbClr val="1F497D"/>
                </a:solidFill>
              </a:rPr>
              <a:t>■ 開発元の対応</a:t>
            </a:r>
          </a:p>
          <a:p>
            <a:pPr lvl="1"/>
            <a:r>
              <a:rPr sz="1350"/>
              <a:t>危険性を考慮して一般公開をためらい、当初は一部企業への限定提供に</a:t>
            </a:r>
          </a:p>
          <a:p>
            <a:pPr lvl="1"/>
            <a:r>
              <a:rPr sz="1350"/>
              <a:t>危険な出力を抑える安全機構を施した「Fable」を一般公開、「Mythos」は審査制の限定提供という二段構え</a:t>
            </a:r>
          </a:p>
          <a:p>
            <a:pPr>
              <a:spcBef>
                <a:spcPts val="800"/>
              </a:spcBef>
            </a:pPr>
            <a:r>
              <a:rPr sz="1600" b="1">
                <a:solidFill>
                  <a:srgbClr val="1F497D"/>
                </a:solidFill>
              </a:rPr>
              <a:t>■ 含意</a:t>
            </a:r>
          </a:p>
          <a:p>
            <a:pPr lvl="1"/>
            <a:r>
              <a:rPr sz="1350"/>
              <a:t>「能力」だけでなく「統制(コントロール)」そのものがリスク管理の対象になった</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
        <p:nvSpPr>
          <p:cNvPr id="14" name="TextBox 13"/>
          <p:cNvSpPr txBox="1"/>
          <p:nvPr/>
        </p:nvSpPr>
        <p:spPr>
          <a:xfrm>
            <a:off x="320040" y="4553712"/>
            <a:ext cx="8503920" cy="228600"/>
          </a:xfrm>
          <a:prstGeom prst="rect">
            <a:avLst/>
          </a:prstGeom>
          <a:noFill/>
        </p:spPr>
        <p:txBody>
          <a:bodyPr wrap="square">
            <a:spAutoFit/>
          </a:bodyPr>
          <a:lstStyle/>
          <a:p>
            <a:r>
              <a:rPr sz="850">
                <a:solidFill>
                  <a:srgbClr val="595959"/>
                </a:solidFill>
              </a:rPr>
              <a:t>出典: red.anthropic.com(2026.4)/原稿「高度なAIによりプラントの安全は破綻する?」(2026.6)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防御側もAIで動き出した ― Project Glasswing</a:t>
            </a:r>
          </a:p>
        </p:txBody>
      </p:sp>
      <p:sp>
        <p:nvSpPr>
          <p:cNvPr id="3" name="Content Placeholder 2"/>
          <p:cNvSpPr>
            <a:spLocks noGrp="1"/>
          </p:cNvSpPr>
          <p:nvPr>
            <p:ph idx="1"/>
          </p:nvPr>
        </p:nvSpPr>
        <p:spPr/>
        <p:txBody>
          <a:bodyPr wrap="square"/>
          <a:lstStyle/>
          <a:p>
            <a:pPr lvl="1"/>
            <a:r>
              <a:rPr sz="1350"/>
              <a:t>Anthropic社が1億ドル規模の防御イニシアチブ「Project Glasswing」を発表</a:t>
            </a:r>
          </a:p>
          <a:p>
            <a:pPr lvl="1"/>
            <a:r>
              <a:rPr sz="1350"/>
              <a:t>AWS・Apple・Google・Microsoft・Cisco・CrowdStrike・Linux Foundation など12組織が初期パートナー</a:t>
            </a:r>
          </a:p>
          <a:p>
            <a:pPr lvl="1"/>
            <a:r>
              <a:rPr sz="1350"/>
              <a:t>開始数週間で、約50パートナーとともに重要ソフトウェアから1万件超のHigh/Critical脆弱性を発見し、修正を推進</a:t>
            </a:r>
          </a:p>
          <a:p>
            <a:pPr>
              <a:spcBef>
                <a:spcPts val="800"/>
              </a:spcBef>
            </a:pPr>
            <a:r>
              <a:rPr sz="1600" b="1">
                <a:solidFill>
                  <a:srgbClr val="1F497D"/>
                </a:solidFill>
              </a:rPr>
              <a:t>■ 構図: 「AIで見つけて先に塞ぐ」vs「AIで見つけて突く」の時間競争</a:t>
            </a:r>
          </a:p>
          <a:p>
            <a:pPr lvl="1"/>
            <a:r>
              <a:rPr sz="1350"/>
              <a:t>パッチ適用までの時間(自組織の暴露時間)の意味がこれまで以上に重くなる</a:t>
            </a:r>
          </a:p>
          <a:p>
            <a:pPr lvl="1"/>
            <a:r>
              <a:rPr sz="1350"/>
              <a:t>防御側がAIを使わないという選択肢は、事実上なくなりつつある</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
        <p:nvSpPr>
          <p:cNvPr id="14" name="TextBox 13"/>
          <p:cNvSpPr txBox="1"/>
          <p:nvPr/>
        </p:nvSpPr>
        <p:spPr>
          <a:xfrm>
            <a:off x="320040" y="4553712"/>
            <a:ext cx="8503920" cy="228600"/>
          </a:xfrm>
          <a:prstGeom prst="rect">
            <a:avLst/>
          </a:prstGeom>
          <a:noFill/>
        </p:spPr>
        <p:txBody>
          <a:bodyPr wrap="square">
            <a:spAutoFit/>
          </a:bodyPr>
          <a:lstStyle/>
          <a:p>
            <a:r>
              <a:rPr sz="850">
                <a:solidFill>
                  <a:srgbClr val="595959"/>
                </a:solidFill>
              </a:rPr>
              <a:t>出典: anthropic.com/glasswing(2026)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そして政治問題に ― 公開停止と“最先端AIの寡占”</a:t>
            </a:r>
          </a:p>
        </p:txBody>
      </p:sp>
      <p:sp>
        <p:nvSpPr>
          <p:cNvPr id="3" name="Content Placeholder 2"/>
          <p:cNvSpPr>
            <a:spLocks noGrp="1"/>
          </p:cNvSpPr>
          <p:nvPr>
            <p:ph idx="1"/>
          </p:nvPr>
        </p:nvSpPr>
        <p:spPr/>
        <p:txBody>
          <a:bodyPr wrap="square"/>
          <a:lstStyle/>
          <a:p>
            <a:pPr lvl="1"/>
            <a:r>
              <a:rPr sz="1350"/>
              <a:t>2026.6.9  安全機構つき「Fable 5」を一般公開、「Mythos 5」は審査制で限定提供</a:t>
            </a:r>
          </a:p>
          <a:p>
            <a:pPr lvl="1"/>
            <a:r>
              <a:rPr sz="1350"/>
              <a:t>2026.6.12  米商務省が「全ての外国籍によるアクセス停止」を命令(ジェイルブレイク報告が契機とされる)― 公開からわずか3日</a:t>
            </a:r>
          </a:p>
          <a:p>
            <a:pPr lvl="1"/>
            <a:r>
              <a:rPr sz="1350"/>
              <a:t>2026.6.13  Anthropic社は両モデルの提供を全面停止</a:t>
            </a:r>
          </a:p>
          <a:p>
            <a:pPr lvl="1"/>
            <a:r>
              <a:rPr sz="1350"/>
              <a:t>2026.6.26  約100の企業・政府機関に限定して提供再開</a:t>
            </a:r>
          </a:p>
          <a:p>
            <a:pPr lvl="1"/>
            <a:r>
              <a:rPr sz="1350"/>
              <a:t>日本でも国会で取り上げられ、財務大臣が米国に利用を申し入れる事態に</a:t>
            </a:r>
          </a:p>
          <a:p>
            <a:pPr>
              <a:spcBef>
                <a:spcPts val="800"/>
              </a:spcBef>
            </a:pPr>
            <a:r>
              <a:rPr sz="1600" b="1">
                <a:solidFill>
                  <a:srgbClr val="1F497D"/>
                </a:solidFill>
              </a:rPr>
              <a:t>■ 論点</a:t>
            </a:r>
          </a:p>
          <a:p>
            <a:pPr lvl="1"/>
            <a:r>
              <a:rPr sz="1350"/>
              <a:t>AIがAIを育て進歩が加速するなか、最先端AIに触れられる者が限られていく</a:t>
            </a:r>
          </a:p>
          <a:p>
            <a:pPr lvl="1"/>
            <a:r>
              <a:rPr sz="1350"/>
              <a:t>「危険な用途にも使える高度なAIを、誰が占有するのか」という新しい地政学リスク</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
        <p:nvSpPr>
          <p:cNvPr id="14" name="TextBox 13"/>
          <p:cNvSpPr txBox="1"/>
          <p:nvPr/>
        </p:nvSpPr>
        <p:spPr>
          <a:xfrm>
            <a:off x="320040" y="4553712"/>
            <a:ext cx="8503920" cy="228600"/>
          </a:xfrm>
          <a:prstGeom prst="rect">
            <a:avLst/>
          </a:prstGeom>
          <a:noFill/>
        </p:spPr>
        <p:txBody>
          <a:bodyPr wrap="square">
            <a:spAutoFit/>
          </a:bodyPr>
          <a:lstStyle/>
          <a:p>
            <a:r>
              <a:rPr sz="850">
                <a:solidFill>
                  <a:srgbClr val="595959"/>
                </a:solidFill>
              </a:rPr>
              <a:t>出典: Axios(2026.6.12)/CNN・Bloomberg・Forbes・CNBC(2026.6)/原稿(2026.6)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問いの立て方 ― 「高度なAIで現場の安全は破綻するのか?」</a:t>
            </a:r>
          </a:p>
        </p:txBody>
      </p:sp>
      <p:sp>
        <p:nvSpPr>
          <p:cNvPr id="3" name="Content Placeholder 2"/>
          <p:cNvSpPr>
            <a:spLocks noGrp="1"/>
          </p:cNvSpPr>
          <p:nvPr>
            <p:ph idx="1"/>
          </p:nvPr>
        </p:nvSpPr>
        <p:spPr/>
        <p:txBody>
          <a:bodyPr wrap="square"/>
          <a:lstStyle/>
          <a:p>
            <a:pPr lvl="1"/>
            <a:r>
              <a:rPr sz="1350"/>
              <a:t>国会でも話題になった不安 … 「AIが高度なサイバー攻撃を行えるなら、プラントの安全は大丈夫か?」</a:t>
            </a:r>
          </a:p>
          <a:p>
            <a:pPr>
              <a:spcBef>
                <a:spcPts val="800"/>
              </a:spcBef>
            </a:pPr>
            <a:r>
              <a:rPr sz="1600" b="1">
                <a:solidFill>
                  <a:srgbClr val="1F497D"/>
                </a:solidFill>
              </a:rPr>
              <a:t>■ 考えるための分け方(本講義の立場)</a:t>
            </a:r>
          </a:p>
          <a:p>
            <a:pPr lvl="1"/>
            <a:r>
              <a:rPr sz="1350"/>
              <a:t>(A) サイバー空間だけで生きるAI … 巧妙で、疲れを知らず、攻め続けてくる</a:t>
            </a:r>
          </a:p>
          <a:p>
            <a:pPr lvl="1"/>
            <a:r>
              <a:rPr sz="1350"/>
              <a:t>(B) ロボット・ドローンなど物理的攻撃手段を持つAI … 最新の戦争の攻防の議論(本講義の範囲外)</a:t>
            </a:r>
          </a:p>
          <a:p>
            <a:pPr>
              <a:spcBef>
                <a:spcPts val="800"/>
              </a:spcBef>
            </a:pPr>
            <a:r>
              <a:rPr sz="1600" b="1">
                <a:solidFill>
                  <a:srgbClr val="1F497D"/>
                </a:solidFill>
              </a:rPr>
              <a:t>■ 先に結論</a:t>
            </a:r>
          </a:p>
          <a:p>
            <a:pPr lvl="1"/>
            <a:r>
              <a:rPr sz="1350"/>
              <a:t>(A)は怖さが増しても、従来のサイバーセキュリティの議論の枠組みを超えることはない</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
        <p:nvSpPr>
          <p:cNvPr id="14" name="TextBox 13"/>
          <p:cNvSpPr txBox="1"/>
          <p:nvPr/>
        </p:nvSpPr>
        <p:spPr>
          <a:xfrm>
            <a:off x="320040" y="4553712"/>
            <a:ext cx="8503920" cy="228600"/>
          </a:xfrm>
          <a:prstGeom prst="rect">
            <a:avLst/>
          </a:prstGeom>
          <a:noFill/>
        </p:spPr>
        <p:txBody>
          <a:bodyPr wrap="square">
            <a:spAutoFit/>
          </a:bodyPr>
          <a:lstStyle/>
          <a:p>
            <a:r>
              <a:rPr sz="850">
                <a:solidFill>
                  <a:srgbClr val="595959"/>
                </a:solidFill>
              </a:rPr>
              <a:t>出典: 原稿「高度なAIによりプラントの安全は破綻する?」(2026.6)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サイバーだけのAIは、従来の枠組みを超えない</a:t>
            </a:r>
          </a:p>
        </p:txBody>
      </p:sp>
      <p:sp>
        <p:nvSpPr>
          <p:cNvPr id="3" name="Content Placeholder 2"/>
          <p:cNvSpPr>
            <a:spLocks noGrp="1"/>
          </p:cNvSpPr>
          <p:nvPr>
            <p:ph idx="1"/>
          </p:nvPr>
        </p:nvSpPr>
        <p:spPr/>
        <p:txBody>
          <a:bodyPr wrap="square"/>
          <a:lstStyle/>
          <a:p>
            <a:pPr>
              <a:spcBef>
                <a:spcPts val="800"/>
              </a:spcBef>
            </a:pPr>
            <a:r>
              <a:rPr sz="1600" b="1">
                <a:solidFill>
                  <a:srgbClr val="1F497D"/>
                </a:solidFill>
              </a:rPr>
              <a:t>■ プラントを物理的に変える経路は、AIでも2つだけ</a:t>
            </a:r>
          </a:p>
          <a:p>
            <a:pPr lvl="1"/>
            <a:r>
              <a:rPr sz="1350"/>
              <a:t>① コントローラを誤動作させる</a:t>
            </a:r>
          </a:p>
          <a:p>
            <a:pPr lvl="1"/>
            <a:r>
              <a:rPr sz="1350"/>
              <a:t>② センサー値を改ざんし、オペレータの誤操作を誘う</a:t>
            </a:r>
          </a:p>
          <a:p>
            <a:pPr>
              <a:spcBef>
                <a:spcPts val="800"/>
              </a:spcBef>
            </a:pPr>
            <a:r>
              <a:rPr sz="1600" b="1">
                <a:solidFill>
                  <a:srgbClr val="1F497D"/>
                </a:solidFill>
              </a:rPr>
              <a:t>■ だから「拠り所」は変わらない</a:t>
            </a:r>
          </a:p>
          <a:p>
            <a:pPr lvl="1"/>
            <a:r>
              <a:rPr sz="1350"/>
              <a:t>危険な圧力になる前に安全弁が噴く。危険な温度になる前にサーモスタットで電源が切れる</a:t>
            </a:r>
          </a:p>
          <a:p>
            <a:pPr lvl="1"/>
            <a:r>
              <a:rPr sz="1350"/>
              <a:t>プログラムと無関係な物理的安全対策は、どんなに高度なAIにも書き換えられない</a:t>
            </a:r>
          </a:p>
          <a:p>
            <a:pPr>
              <a:spcBef>
                <a:spcPts val="800"/>
              </a:spcBef>
            </a:pPr>
            <a:r>
              <a:rPr sz="1600" b="1">
                <a:solidFill>
                  <a:srgbClr val="1F497D"/>
                </a:solidFill>
              </a:rPr>
              <a:t>■ ただし、イタチごっこの宿命は忘れない</a:t>
            </a:r>
          </a:p>
          <a:p>
            <a:pPr lvl="1"/>
            <a:r>
              <a:rPr sz="1350"/>
              <a:t>防御策自体が攻撃対象になる(例: VPN機器が侵入口となった世界中のランサムウェア被害)</a:t>
            </a:r>
          </a:p>
          <a:p>
            <a:pPr lvl="1"/>
            <a:r>
              <a:rPr sz="1350"/>
              <a:t>現場へのセキュリティ導入速度は攻撃者の進歩に追いつけない ― 追いかけっこに賭けない設計を</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
        <p:nvSpPr>
          <p:cNvPr id="14" name="TextBox 13"/>
          <p:cNvSpPr txBox="1"/>
          <p:nvPr/>
        </p:nvSpPr>
        <p:spPr>
          <a:xfrm>
            <a:off x="320040" y="4553712"/>
            <a:ext cx="8503920" cy="228600"/>
          </a:xfrm>
          <a:prstGeom prst="rect">
            <a:avLst/>
          </a:prstGeom>
          <a:noFill/>
        </p:spPr>
        <p:txBody>
          <a:bodyPr wrap="square">
            <a:spAutoFit/>
          </a:bodyPr>
          <a:lstStyle/>
          <a:p>
            <a:r>
              <a:rPr sz="850">
                <a:solidFill>
                  <a:srgbClr val="595959"/>
                </a:solidFill>
              </a:rPr>
              <a:t>出典: 原稿「高度なAIによりプラントの安全は破綻する?」(2026.6)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地に足の着いた対策 ― 意外にも「古い技術」と「基本」</a:t>
            </a:r>
          </a:p>
        </p:txBody>
      </p:sp>
      <p:sp>
        <p:nvSpPr>
          <p:cNvPr id="3" name="Content Placeholder 2"/>
          <p:cNvSpPr>
            <a:spLocks noGrp="1"/>
          </p:cNvSpPr>
          <p:nvPr>
            <p:ph idx="1"/>
          </p:nvPr>
        </p:nvSpPr>
        <p:spPr/>
        <p:txBody>
          <a:bodyPr wrap="square"/>
          <a:lstStyle/>
          <a:p>
            <a:pPr lvl="1"/>
            <a:r>
              <a:rPr sz="1350"/>
              <a:t>STEP 1  拠り所を確保する … プログラムと無関係な物理的安全対策の存在と健全性をまず確認する</a:t>
            </a:r>
          </a:p>
          <a:p>
            <a:pPr lvl="1"/>
            <a:r>
              <a:rPr sz="1350"/>
              <a:t>STEP 2  防御より「検知」に注力する … 侵入されることを前提に、早く気づく仕組みへ投資する</a:t>
            </a:r>
          </a:p>
          <a:p>
            <a:pPr lvl="1"/>
            <a:r>
              <a:rPr sz="1350"/>
              <a:t>STEP 3  検知したら停止し、早期復旧を目指す … 「安全に止められる」ことが最後の防衛線</a:t>
            </a:r>
          </a:p>
          <a:p>
            <a:pPr lvl="1"/>
            <a:r>
              <a:rPr sz="1350"/>
              <a:t>STEP 4  そこからセキュリティを高度化する … 順序を逆にしない</a:t>
            </a:r>
          </a:p>
          <a:p>
            <a:pPr>
              <a:spcBef>
                <a:spcPts val="800"/>
              </a:spcBef>
            </a:pPr>
            <a:r>
              <a:rPr sz="1600" b="1">
                <a:solidFill>
                  <a:srgbClr val="1F497D"/>
                </a:solidFill>
              </a:rPr>
              <a:t>■ まとめ</a:t>
            </a:r>
          </a:p>
          <a:p>
            <a:pPr lvl="1"/>
            <a:r>
              <a:rPr sz="1350"/>
              <a:t>AIは想像を超える攻撃を生む危険もあるが、今できることを考えると、意外にも古い技術が有効</a:t>
            </a:r>
          </a:p>
          <a:p>
            <a:pPr lvl="1"/>
            <a:r>
              <a:rPr sz="1350"/>
              <a:t>基本に立ち返ることが必要 ― これが“Mythos問題”への本講義の答え</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
        <p:nvSpPr>
          <p:cNvPr id="14" name="TextBox 13"/>
          <p:cNvSpPr txBox="1"/>
          <p:nvPr/>
        </p:nvSpPr>
        <p:spPr>
          <a:xfrm>
            <a:off x="320040" y="4553712"/>
            <a:ext cx="8503920" cy="228600"/>
          </a:xfrm>
          <a:prstGeom prst="rect">
            <a:avLst/>
          </a:prstGeom>
          <a:noFill/>
        </p:spPr>
        <p:txBody>
          <a:bodyPr wrap="square">
            <a:spAutoFit/>
          </a:bodyPr>
          <a:lstStyle/>
          <a:p>
            <a:r>
              <a:rPr sz="850">
                <a:solidFill>
                  <a:srgbClr val="595959"/>
                </a:solidFill>
              </a:rPr>
              <a:t>出典: 原稿「高度なAIによりプラントの安全は破綻する?」(2026.6)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第3章  量子という時限爆弾</a:t>
            </a:r>
          </a:p>
        </p:txBody>
      </p:sp>
      <p:sp>
        <p:nvSpPr>
          <p:cNvPr id="3" name="Text Placeholder 2"/>
          <p:cNvSpPr>
            <a:spLocks noGrp="1"/>
          </p:cNvSpPr>
          <p:nvPr>
            <p:ph type="body" idx="1"/>
          </p:nvPr>
        </p:nvSpPr>
        <p:spPr/>
        <p:txBody>
          <a:bodyPr/>
          <a:lstStyle/>
          <a:p>
            <a:r>
              <a:t>“まだ先”ではない理由 ― Harvest Now, Decrypt Later と移行期限(約15分)</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技術はこの1枚で足りる ― 量子は何にどう効くか</a:t>
            </a:r>
          </a:p>
        </p:txBody>
      </p:sp>
      <p:graphicFrame>
        <p:nvGraphicFramePr>
          <p:cNvPr id="3" name="Table 2"/>
          <p:cNvGraphicFramePr>
            <a:graphicFrameLocks noGrp="1"/>
          </p:cNvGraphicFramePr>
          <p:nvPr/>
        </p:nvGraphicFramePr>
        <p:xfrm>
          <a:off x="274319" y="1234440"/>
          <a:ext cx="8595360" cy="877824"/>
        </p:xfrm>
        <a:graphic>
          <a:graphicData uri="http://schemas.openxmlformats.org/drawingml/2006/table">
            <a:tbl>
              <a:tblPr firstRow="1" bandRow="1">
                <a:tableStyleId>{5C22544A-7EE6-4342-B048-85BDC9FD1C3A}</a:tableStyleId>
              </a:tblPr>
              <a:tblGrid>
                <a:gridCol w="1463040"/>
                <a:gridCol w="2377440"/>
                <a:gridCol w="2377440"/>
                <a:gridCol w="2377440"/>
              </a:tblGrid>
              <a:tr h="292608">
                <a:tc>
                  <a:txBody>
                    <a:bodyPr/>
                    <a:lstStyle/>
                    <a:p>
                      <a:r>
                        <a:rPr sz="1150" b="1"/>
                        <a:t>アルゴリズム</a:t>
                      </a:r>
                    </a:p>
                  </a:txBody>
                  <a:tcPr/>
                </a:tc>
                <a:tc>
                  <a:txBody>
                    <a:bodyPr/>
                    <a:lstStyle/>
                    <a:p>
                      <a:r>
                        <a:rPr sz="1150" b="1"/>
                        <a:t>効く対象</a:t>
                      </a:r>
                    </a:p>
                  </a:txBody>
                  <a:tcPr/>
                </a:tc>
                <a:tc>
                  <a:txBody>
                    <a:bodyPr/>
                    <a:lstStyle/>
                    <a:p>
                      <a:r>
                        <a:rPr sz="1150" b="1"/>
                        <a:t>影響</a:t>
                      </a:r>
                    </a:p>
                  </a:txBody>
                  <a:tcPr/>
                </a:tc>
                <a:tc>
                  <a:txBody>
                    <a:bodyPr/>
                    <a:lstStyle/>
                    <a:p>
                      <a:r>
                        <a:rPr sz="1150" b="1"/>
                        <a:t>対策</a:t>
                      </a:r>
                    </a:p>
                  </a:txBody>
                  <a:tcPr/>
                </a:tc>
              </a:tr>
              <a:tr h="292608">
                <a:tc>
                  <a:txBody>
                    <a:bodyPr/>
                    <a:lstStyle/>
                    <a:p>
                      <a:r>
                        <a:rPr sz="1150"/>
                        <a:t>Shor</a:t>
                      </a:r>
                    </a:p>
                  </a:txBody>
                  <a:tcPr/>
                </a:tc>
                <a:tc>
                  <a:txBody>
                    <a:bodyPr/>
                    <a:lstStyle/>
                    <a:p>
                      <a:r>
                        <a:rPr sz="1150"/>
                        <a:t>公開鍵暗号(RSA・楕円曲線)</a:t>
                      </a:r>
                    </a:p>
                  </a:txBody>
                  <a:tcPr/>
                </a:tc>
                <a:tc>
                  <a:txBody>
                    <a:bodyPr/>
                    <a:lstStyle/>
                    <a:p>
                      <a:r>
                        <a:rPr sz="1150"/>
                        <a:t>現実的な時間で破れる</a:t>
                      </a:r>
                    </a:p>
                  </a:txBody>
                  <a:tcPr/>
                </a:tc>
                <a:tc>
                  <a:txBody>
                    <a:bodyPr/>
                    <a:lstStyle/>
                    <a:p>
                      <a:r>
                        <a:rPr sz="1150"/>
                        <a:t>PQCへ移行(ML-KEM / ML-DSA)</a:t>
                      </a:r>
                    </a:p>
                  </a:txBody>
                  <a:tcPr/>
                </a:tc>
              </a:tr>
              <a:tr h="292608">
                <a:tc>
                  <a:txBody>
                    <a:bodyPr/>
                    <a:lstStyle/>
                    <a:p>
                      <a:r>
                        <a:rPr sz="1150"/>
                        <a:t>Grover</a:t>
                      </a:r>
                    </a:p>
                  </a:txBody>
                  <a:tcPr/>
                </a:tc>
                <a:tc>
                  <a:txBody>
                    <a:bodyPr/>
                    <a:lstStyle/>
                    <a:p>
                      <a:r>
                        <a:rPr sz="1150"/>
                        <a:t>共通鍵(AES)・ハッシュ</a:t>
                      </a:r>
                    </a:p>
                  </a:txBody>
                  <a:tcPr/>
                </a:tc>
                <a:tc>
                  <a:txBody>
                    <a:bodyPr/>
                    <a:lstStyle/>
                    <a:p>
                      <a:r>
                        <a:rPr sz="1150"/>
                        <a:t>実効強度が半分になる程度</a:t>
                      </a:r>
                    </a:p>
                  </a:txBody>
                  <a:tcPr/>
                </a:tc>
                <a:tc>
                  <a:txBody>
                    <a:bodyPr/>
                    <a:lstStyle/>
                    <a:p>
                      <a:r>
                        <a:rPr sz="1150"/>
                        <a:t>鍵長を倍に(AES-128→256)</a:t>
                      </a:r>
                    </a:p>
                  </a:txBody>
                  <a:tcPr/>
                </a:tc>
              </a:tr>
            </a:tbl>
          </a:graphicData>
        </a:graphic>
      </p:graphicFrame>
      <p:sp>
        <p:nvSpPr>
          <p:cNvPr id="4" name="TextBox 3"/>
          <p:cNvSpPr txBox="1"/>
          <p:nvPr/>
        </p:nvSpPr>
        <p:spPr>
          <a:xfrm>
            <a:off x="411480" y="2304288"/>
            <a:ext cx="8321040" cy="822960"/>
          </a:xfrm>
          <a:prstGeom prst="rect">
            <a:avLst/>
          </a:prstGeom>
          <a:noFill/>
        </p:spPr>
        <p:txBody>
          <a:bodyPr wrap="square">
            <a:spAutoFit/>
          </a:bodyPr>
          <a:lstStyle/>
          <a:p>
            <a:r>
              <a:rPr sz="1300" b="1">
                <a:solidFill>
                  <a:srgbClr val="1F497D"/>
                </a:solidFill>
              </a:rPr>
              <a:t>結論: 「量子=全暗号が終わる」は誤解。公開鍵はShorで危ういが、AESは鍵長を上げれば当面耐える。</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
        <p:nvSpPr>
          <p:cNvPr id="14" name="TextBox 13"/>
          <p:cNvSpPr txBox="1"/>
          <p:nvPr/>
        </p:nvSpPr>
        <p:spPr>
          <a:xfrm>
            <a:off x="320040" y="4553712"/>
            <a:ext cx="8503920" cy="228600"/>
          </a:xfrm>
          <a:prstGeom prst="rect">
            <a:avLst/>
          </a:prstGeom>
          <a:noFill/>
        </p:spPr>
        <p:txBody>
          <a:bodyPr wrap="square">
            <a:spAutoFit/>
          </a:bodyPr>
          <a:lstStyle/>
          <a:p>
            <a:r>
              <a:rPr sz="850">
                <a:solidFill>
                  <a:srgbClr val="595959"/>
                </a:solidFill>
              </a:rPr>
              <a:t>出典: 量子×セキュリティ講演資料 p.3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Harvest Now, Decrypt Later ― 脅威は「今」始まっている</a:t>
            </a:r>
          </a:p>
        </p:txBody>
      </p:sp>
      <p:sp>
        <p:nvSpPr>
          <p:cNvPr id="3" name="Content Placeholder 2"/>
          <p:cNvSpPr>
            <a:spLocks noGrp="1"/>
          </p:cNvSpPr>
          <p:nvPr>
            <p:ph idx="1"/>
          </p:nvPr>
        </p:nvSpPr>
        <p:spPr/>
        <p:txBody>
          <a:bodyPr wrap="square"/>
          <a:lstStyle/>
          <a:p>
            <a:pPr>
              <a:spcBef>
                <a:spcPts val="800"/>
              </a:spcBef>
            </a:pPr>
            <a:r>
              <a:rPr sz="1600" b="1">
                <a:solidFill>
                  <a:srgbClr val="1F497D"/>
                </a:solidFill>
              </a:rPr>
              <a:t>■ よくある誤解</a:t>
            </a:r>
          </a:p>
          <a:p>
            <a:pPr lvl="1"/>
            <a:r>
              <a:rPr sz="1350"/>
              <a:t>「量子計算機はまだない。だからうちはまだ関係ない」</a:t>
            </a:r>
          </a:p>
          <a:p>
            <a:pPr>
              <a:spcBef>
                <a:spcPts val="800"/>
              </a:spcBef>
            </a:pPr>
            <a:r>
              <a:rPr sz="1600" b="1">
                <a:solidFill>
                  <a:srgbClr val="1F497D"/>
                </a:solidFill>
              </a:rPr>
              <a:t>■ HNDL(今盗んで、後で復号)</a:t>
            </a:r>
          </a:p>
          <a:p>
            <a:pPr lvl="1"/>
            <a:r>
              <a:rPr sz="1350"/>
              <a:t>暗号化された通信・データを攻撃者が今から録りためれば、将来の量子計算機で遡って復号される</a:t>
            </a:r>
          </a:p>
          <a:p>
            <a:pPr lvl="1"/>
            <a:r>
              <a:rPr sz="1350"/>
              <a:t>長期秘匿データ(顧客・医療・知財・M&amp;A・国家機密)は、今日この瞬間に既に漏えいリスクに晒されている</a:t>
            </a:r>
          </a:p>
          <a:p>
            <a:pPr lvl="1"/>
            <a:r>
              <a:rPr sz="1350"/>
              <a:t>Signal(PQXDH, 2023)・Apple iMessage(PQ3, 2024)は、このHNDL対策として既に実装済み</a:t>
            </a:r>
          </a:p>
          <a:p>
            <a:pPr>
              <a:spcBef>
                <a:spcPts val="800"/>
              </a:spcBef>
            </a:pPr>
            <a:r>
              <a:rPr sz="1600" b="1">
                <a:solidFill>
                  <a:srgbClr val="1F497D"/>
                </a:solidFill>
              </a:rPr>
              <a:t>■ 経営に効く一言</a:t>
            </a:r>
          </a:p>
          <a:p>
            <a:pPr lvl="1"/>
            <a:r>
              <a:rPr sz="1350"/>
              <a:t>「これは“来年の予算”の話ではなく、“すでに発生している損失の可能性”の話です」</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
        <p:nvSpPr>
          <p:cNvPr id="14" name="TextBox 13"/>
          <p:cNvSpPr txBox="1"/>
          <p:nvPr/>
        </p:nvSpPr>
        <p:spPr>
          <a:xfrm>
            <a:off x="320040" y="4553712"/>
            <a:ext cx="8503920" cy="228600"/>
          </a:xfrm>
          <a:prstGeom prst="rect">
            <a:avLst/>
          </a:prstGeom>
          <a:noFill/>
        </p:spPr>
        <p:txBody>
          <a:bodyPr wrap="square">
            <a:spAutoFit/>
          </a:bodyPr>
          <a:lstStyle/>
          <a:p>
            <a:r>
              <a:rPr sz="850">
                <a:solidFill>
                  <a:srgbClr val="595959"/>
                </a:solidFill>
              </a:rPr>
              <a:t>出典: 量子×セキュリティ講演資料 p.5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モスカの不等式 ― 経営判断のためのロジック</a:t>
            </a:r>
          </a:p>
        </p:txBody>
      </p:sp>
      <p:sp>
        <p:nvSpPr>
          <p:cNvPr id="3" name="Content Placeholder 2"/>
          <p:cNvSpPr>
            <a:spLocks noGrp="1"/>
          </p:cNvSpPr>
          <p:nvPr>
            <p:ph idx="1"/>
          </p:nvPr>
        </p:nvSpPr>
        <p:spPr/>
        <p:txBody>
          <a:bodyPr wrap="square"/>
          <a:lstStyle/>
          <a:p>
            <a:pPr>
              <a:spcBef>
                <a:spcPts val="800"/>
              </a:spcBef>
            </a:pPr>
            <a:r>
              <a:rPr sz="1600" b="1">
                <a:solidFill>
                  <a:srgbClr val="1F497D"/>
                </a:solidFill>
              </a:rPr>
              <a:t>■ X + Y &gt; Z なら、あなたは既に手遅れ</a:t>
            </a:r>
          </a:p>
          <a:p>
            <a:pPr lvl="1"/>
            <a:r>
              <a:rPr sz="1350"/>
              <a:t>X = データを秘匿し続けねばならない年数(データの寿命)</a:t>
            </a:r>
          </a:p>
          <a:p>
            <a:pPr lvl="1"/>
            <a:r>
              <a:rPr sz="1350"/>
              <a:t>Y = 自組織が耐量子暗号(PQC)へ移行し切るのに要する年数</a:t>
            </a:r>
          </a:p>
          <a:p>
            <a:pPr lvl="1"/>
            <a:r>
              <a:rPr sz="1350"/>
              <a:t>Z = 暗号解読可能な量子計算機(CRQC)が登場するまでの年数</a:t>
            </a:r>
          </a:p>
          <a:p>
            <a:pPr lvl="1"/>
            <a:r>
              <a:rPr sz="1350"/>
              <a:t>Zは誰にも正確に分からない。だからコントロールできるXとYを今から縮める</a:t>
            </a:r>
          </a:p>
          <a:p>
            <a:pPr>
              <a:spcBef>
                <a:spcPts val="800"/>
              </a:spcBef>
            </a:pPr>
            <a:r>
              <a:rPr sz="1600" b="1">
                <a:solidFill>
                  <a:srgbClr val="1F497D"/>
                </a:solidFill>
              </a:rPr>
              <a:t>■ 取締役会に投げるべき3つの問い</a:t>
            </a:r>
          </a:p>
          <a:p>
            <a:pPr lvl="1"/>
            <a:r>
              <a:rPr sz="1350"/>
              <a:t>① 当社のデータのうち、10年後も秘匿が必要なものは何か?(=X)</a:t>
            </a:r>
          </a:p>
          <a:p>
            <a:pPr lvl="1"/>
            <a:r>
              <a:rPr sz="1350"/>
              <a:t>② その暗号を全面移行するのに、当社は何年かかるか?(=Y)</a:t>
            </a:r>
          </a:p>
          <a:p>
            <a:pPr lvl="1"/>
            <a:r>
              <a:rPr sz="1350"/>
              <a:t>③ その2つの合計より早く量子計算機が来たら、誰が責任を負うのか?(=Zとの対比・説明責任)</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
        <p:nvSpPr>
          <p:cNvPr id="14" name="TextBox 13"/>
          <p:cNvSpPr txBox="1"/>
          <p:nvPr/>
        </p:nvSpPr>
        <p:spPr>
          <a:xfrm>
            <a:off x="320040" y="4553712"/>
            <a:ext cx="8503920" cy="228600"/>
          </a:xfrm>
          <a:prstGeom prst="rect">
            <a:avLst/>
          </a:prstGeom>
          <a:noFill/>
        </p:spPr>
        <p:txBody>
          <a:bodyPr wrap="square">
            <a:spAutoFit/>
          </a:bodyPr>
          <a:lstStyle/>
          <a:p>
            <a:r>
              <a:rPr sz="850">
                <a:solidFill>
                  <a:srgbClr val="595959"/>
                </a:solidFill>
              </a:rPr>
              <a:t>出典: 量子×セキュリティ講演資料 p.6, p.19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標準は確定し、各国は期限を切った</a:t>
            </a:r>
          </a:p>
        </p:txBody>
      </p:sp>
      <p:sp>
        <p:nvSpPr>
          <p:cNvPr id="3" name="TextBox 2"/>
          <p:cNvSpPr txBox="1"/>
          <p:nvPr/>
        </p:nvSpPr>
        <p:spPr>
          <a:xfrm>
            <a:off x="411480" y="960120"/>
            <a:ext cx="8321040" cy="320040"/>
          </a:xfrm>
          <a:prstGeom prst="rect">
            <a:avLst/>
          </a:prstGeom>
          <a:noFill/>
        </p:spPr>
        <p:txBody>
          <a:bodyPr wrap="square">
            <a:spAutoFit/>
          </a:bodyPr>
          <a:lstStyle/>
          <a:p>
            <a:r>
              <a:rPr sz="1300"/>
              <a:t>NISTがPQCを正式標準化(2024.8.13): FIPS 203 ML-KEM(鍵交換)/ 204 ML-DSA(署名)/ 205 SLH-DSA(署名)</a:t>
            </a:r>
          </a:p>
        </p:txBody>
      </p:sp>
      <p:graphicFrame>
        <p:nvGraphicFramePr>
          <p:cNvPr id="4" name="Table 3"/>
          <p:cNvGraphicFramePr>
            <a:graphicFrameLocks noGrp="1"/>
          </p:cNvGraphicFramePr>
          <p:nvPr/>
        </p:nvGraphicFramePr>
        <p:xfrm>
          <a:off x="457200" y="1645920"/>
          <a:ext cx="8229600" cy="1755648"/>
        </p:xfrm>
        <a:graphic>
          <a:graphicData uri="http://schemas.openxmlformats.org/drawingml/2006/table">
            <a:tbl>
              <a:tblPr firstRow="1" bandRow="1">
                <a:tableStyleId>{5C22544A-7EE6-4342-B048-85BDC9FD1C3A}</a:tableStyleId>
              </a:tblPr>
              <a:tblGrid>
                <a:gridCol w="2103120"/>
                <a:gridCol w="6126480"/>
              </a:tblGrid>
              <a:tr h="292608">
                <a:tc>
                  <a:txBody>
                    <a:bodyPr/>
                    <a:lstStyle/>
                    <a:p>
                      <a:r>
                        <a:rPr sz="1100" b="1"/>
                        <a:t>国・機関</a:t>
                      </a:r>
                    </a:p>
                  </a:txBody>
                  <a:tcPr/>
                </a:tc>
                <a:tc>
                  <a:txBody>
                    <a:bodyPr/>
                    <a:lstStyle/>
                    <a:p>
                      <a:r>
                        <a:rPr sz="1100" b="1"/>
                        <a:t>移行期限のポイント</a:t>
                      </a:r>
                    </a:p>
                  </a:txBody>
                  <a:tcPr/>
                </a:tc>
              </a:tr>
              <a:tr h="292608">
                <a:tc>
                  <a:txBody>
                    <a:bodyPr/>
                    <a:lstStyle/>
                    <a:p>
                      <a:r>
                        <a:rPr sz="1100"/>
                        <a:t>米 NSA CNSA 2.0</a:t>
                      </a:r>
                    </a:p>
                  </a:txBody>
                  <a:tcPr/>
                </a:tc>
                <a:tc>
                  <a:txBody>
                    <a:bodyPr/>
                    <a:lstStyle/>
                    <a:p>
                      <a:r>
                        <a:rPr sz="1100"/>
                        <a:t>全体2035完了(ソフト/ファーム署名のみ2030)</a:t>
                      </a:r>
                    </a:p>
                  </a:txBody>
                  <a:tcPr/>
                </a:tc>
              </a:tr>
              <a:tr h="292608">
                <a:tc>
                  <a:txBody>
                    <a:bodyPr/>
                    <a:lstStyle/>
                    <a:p>
                      <a:r>
                        <a:rPr sz="1100"/>
                        <a:t>米 NIST IR 8547</a:t>
                      </a:r>
                    </a:p>
                  </a:txBody>
                  <a:tcPr/>
                </a:tc>
                <a:tc>
                  <a:txBody>
                    <a:bodyPr/>
                    <a:lstStyle/>
                    <a:p>
                      <a:r>
                        <a:rPr sz="1100"/>
                        <a:t>RSA-2048/P-256は2030非推奨・2035以降禁止(ドラフト)</a:t>
                      </a:r>
                    </a:p>
                  </a:txBody>
                  <a:tcPr/>
                </a:tc>
              </a:tr>
              <a:tr h="292608">
                <a:tc>
                  <a:txBody>
                    <a:bodyPr/>
                    <a:lstStyle/>
                    <a:p>
                      <a:r>
                        <a:rPr sz="1100"/>
                        <a:t>EU ロードマップ</a:t>
                      </a:r>
                    </a:p>
                  </a:txBody>
                  <a:tcPr/>
                </a:tc>
                <a:tc>
                  <a:txBody>
                    <a:bodyPr/>
                    <a:lstStyle/>
                    <a:p>
                      <a:r>
                        <a:rPr sz="1100"/>
                        <a:t>高リスク2030 / 中リスク2035</a:t>
                      </a:r>
                    </a:p>
                  </a:txBody>
                  <a:tcPr/>
                </a:tc>
              </a:tr>
              <a:tr h="292608">
                <a:tc>
                  <a:txBody>
                    <a:bodyPr/>
                    <a:lstStyle/>
                    <a:p>
                      <a:r>
                        <a:rPr sz="1100"/>
                        <a:t>英 NCSC</a:t>
                      </a:r>
                    </a:p>
                  </a:txBody>
                  <a:tcPr/>
                </a:tc>
                <a:tc>
                  <a:txBody>
                    <a:bodyPr/>
                    <a:lstStyle/>
                    <a:p>
                      <a:r>
                        <a:rPr sz="1100"/>
                        <a:t>2028棚卸し / 2031最優先移行 / 2035完了</a:t>
                      </a:r>
                    </a:p>
                  </a:txBody>
                  <a:tcPr/>
                </a:tc>
              </a:tr>
              <a:tr h="292608">
                <a:tc>
                  <a:txBody>
                    <a:bodyPr/>
                    <a:lstStyle/>
                    <a:p>
                      <a:r>
                        <a:rPr sz="1100"/>
                        <a:t>日本</a:t>
                      </a:r>
                    </a:p>
                  </a:txBody>
                  <a:tcPr/>
                </a:tc>
                <a:tc>
                  <a:txBody>
                    <a:bodyPr/>
                    <a:lstStyle/>
                    <a:p>
                      <a:r>
                        <a:rPr sz="1100"/>
                        <a:t>CRYPTREC暗号リストにPQC初掲載(2026.3)・原則2035年目処(内閣官房)</a:t>
                      </a:r>
                    </a:p>
                  </a:txBody>
                  <a:tcPr/>
                </a:tc>
              </a:tr>
            </a:tbl>
          </a:graphicData>
        </a:graphic>
      </p:graphicFrame>
      <p:sp>
        <p:nvSpPr>
          <p:cNvPr id="5" name="TextBox 4"/>
          <p:cNvSpPr txBox="1"/>
          <p:nvPr/>
        </p:nvSpPr>
        <p:spPr>
          <a:xfrm>
            <a:off x="411480" y="3648456"/>
            <a:ext cx="8321040" cy="822960"/>
          </a:xfrm>
          <a:prstGeom prst="rect">
            <a:avLst/>
          </a:prstGeom>
          <a:noFill/>
        </p:spPr>
        <p:txBody>
          <a:bodyPr wrap="square">
            <a:spAutoFit/>
          </a:bodyPr>
          <a:lstStyle/>
          <a:p>
            <a:r>
              <a:rPr sz="1300" b="1">
                <a:solidFill>
                  <a:srgbClr val="1F497D"/>
                </a:solidFill>
              </a:rPr>
              <a:t>キーメッセージ: 規制は“やるか”ではなく“いつまでに”のフェーズへ移った。もう海外の話ではない。</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
        <p:nvSpPr>
          <p:cNvPr id="14" name="TextBox 13"/>
          <p:cNvSpPr txBox="1"/>
          <p:nvPr/>
        </p:nvSpPr>
        <p:spPr>
          <a:xfrm>
            <a:off x="320040" y="4553712"/>
            <a:ext cx="8503920" cy="228600"/>
          </a:xfrm>
          <a:prstGeom prst="rect">
            <a:avLst/>
          </a:prstGeom>
          <a:noFill/>
        </p:spPr>
        <p:txBody>
          <a:bodyPr wrap="square">
            <a:spAutoFit/>
          </a:bodyPr>
          <a:lstStyle/>
          <a:p>
            <a:r>
              <a:rPr sz="850">
                <a:solidFill>
                  <a:srgbClr val="595959"/>
                </a:solidFill>
              </a:rPr>
              <a:t>出典: 量子×セキュリティ講演資料 p.8-10(NIST/CRYPTREC等の一次情報で裏取り済み)</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民間はもう「出荷」している</a:t>
            </a:r>
          </a:p>
        </p:txBody>
      </p:sp>
      <p:sp>
        <p:nvSpPr>
          <p:cNvPr id="3" name="Content Placeholder 2"/>
          <p:cNvSpPr>
            <a:spLocks noGrp="1"/>
          </p:cNvSpPr>
          <p:nvPr>
            <p:ph idx="1"/>
          </p:nvPr>
        </p:nvSpPr>
        <p:spPr/>
        <p:txBody>
          <a:bodyPr wrap="square"/>
          <a:lstStyle/>
          <a:p>
            <a:pPr lvl="1"/>
            <a:r>
              <a:rPr sz="1350"/>
              <a:t>Apple iMessage「PQ3」(2024)/ Signal「PQXDH」(2023)</a:t>
            </a:r>
          </a:p>
          <a:p>
            <a:pPr lvl="1"/>
            <a:r>
              <a:rPr sz="1350"/>
              <a:t>TLSハイブリッド鍵交換 X25519MLKEM768 … Chrome・Firefox・OpenSSL等が既定化</a:t>
            </a:r>
          </a:p>
          <a:p>
            <a:pPr lvl="1"/>
            <a:r>
              <a:rPr sz="1350"/>
              <a:t>OpenSSH 10.0(2025.4)/ Zoom(会議E2EE)/ AWS(KMS・S3等で既定化)</a:t>
            </a:r>
          </a:p>
          <a:p>
            <a:pPr>
              <a:spcBef>
                <a:spcPts val="800"/>
              </a:spcBef>
            </a:pPr>
            <a:r>
              <a:rPr sz="1600" b="1">
                <a:solidFill>
                  <a:srgbClr val="1F497D"/>
                </a:solidFill>
              </a:rPr>
              <a:t>■ 検証済みの数字</a:t>
            </a:r>
          </a:p>
          <a:p>
            <a:pPr lvl="1"/>
            <a:r>
              <a:rPr sz="1350"/>
              <a:t>Cloudflareへの人間由来トラフィックの50%超が、PQ鍵交換を使用(2025.10)</a:t>
            </a:r>
          </a:p>
          <a:p>
            <a:pPr>
              <a:spcBef>
                <a:spcPts val="800"/>
              </a:spcBef>
            </a:pPr>
            <a:r>
              <a:rPr sz="1600" b="1">
                <a:solidFill>
                  <a:srgbClr val="1F497D"/>
                </a:solidFill>
              </a:rPr>
              <a:t>■ 実務者への含意</a:t>
            </a:r>
          </a:p>
          <a:p>
            <a:pPr lvl="1"/>
            <a:r>
              <a:rPr sz="1350"/>
              <a:t>取引先・監査から「御社のPQC対応は?」と問われる日は近い ― サプライチェーンの“弱い環”に自社がならないこと</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
        <p:nvSpPr>
          <p:cNvPr id="14" name="TextBox 13"/>
          <p:cNvSpPr txBox="1"/>
          <p:nvPr/>
        </p:nvSpPr>
        <p:spPr>
          <a:xfrm>
            <a:off x="320040" y="4553712"/>
            <a:ext cx="8503920" cy="228600"/>
          </a:xfrm>
          <a:prstGeom prst="rect">
            <a:avLst/>
          </a:prstGeom>
          <a:noFill/>
        </p:spPr>
        <p:txBody>
          <a:bodyPr wrap="square">
            <a:spAutoFit/>
          </a:bodyPr>
          <a:lstStyle/>
          <a:p>
            <a:r>
              <a:rPr sz="850">
                <a:solidFill>
                  <a:srgbClr val="595959"/>
                </a:solidFill>
              </a:rPr>
              <a:t>出典: 量子×セキュリティ講演資料 p.11-12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移行は「暗号の入れ替え」ではなく「プログラム」</a:t>
            </a:r>
          </a:p>
        </p:txBody>
      </p:sp>
      <p:sp>
        <p:nvSpPr>
          <p:cNvPr id="3" name="Content Placeholder 2"/>
          <p:cNvSpPr>
            <a:spLocks noGrp="1"/>
          </p:cNvSpPr>
          <p:nvPr>
            <p:ph idx="1"/>
          </p:nvPr>
        </p:nvSpPr>
        <p:spPr/>
        <p:txBody>
          <a:bodyPr wrap="square"/>
          <a:lstStyle/>
          <a:p>
            <a:pPr lvl="1"/>
            <a:r>
              <a:rPr sz="1350"/>
              <a:t>STEP 1  暗号インベントリ(棚卸し) … どこで・どの暗号が・どのデータを守っているか。把握していないことが最初の衝撃であり、最初の一歩</a:t>
            </a:r>
          </a:p>
          <a:p>
            <a:pPr lvl="1"/>
            <a:r>
              <a:rPr sz="1350"/>
              <a:t>STEP 2  リスクの優先順位付け … モスカの不等式を資産ごとに適用(長寿命データ・寿命の長い組込み機器から)</a:t>
            </a:r>
          </a:p>
          <a:p>
            <a:pPr lvl="1"/>
            <a:r>
              <a:rPr sz="1350"/>
              <a:t>STEP 3  クリプト・アジリティ … 特定アルゴリズムに密結合しない。「次の暗号危機」にも替えられる体質へ</a:t>
            </a:r>
          </a:p>
          <a:p>
            <a:pPr lvl="1"/>
            <a:r>
              <a:rPr sz="1350"/>
              <a:t>STEP 4  ハイブリッド移行 … 従来暗号+PQC併用という現実解(欧州は必須化の潮流)</a:t>
            </a:r>
          </a:p>
          <a:p>
            <a:pPr lvl="1"/>
            <a:r>
              <a:rPr sz="1350"/>
              <a:t>STEP 5  ロードマップと体制 … 責任者・予算・KPIを「1枚のガント」で経営に見せる</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
        <p:nvSpPr>
          <p:cNvPr id="14" name="TextBox 13"/>
          <p:cNvSpPr txBox="1"/>
          <p:nvPr/>
        </p:nvSpPr>
        <p:spPr>
          <a:xfrm>
            <a:off x="320040" y="4553712"/>
            <a:ext cx="8503920" cy="228600"/>
          </a:xfrm>
          <a:prstGeom prst="rect">
            <a:avLst/>
          </a:prstGeom>
          <a:noFill/>
        </p:spPr>
        <p:txBody>
          <a:bodyPr wrap="square">
            <a:spAutoFit/>
          </a:bodyPr>
          <a:lstStyle/>
          <a:p>
            <a:r>
              <a:rPr sz="850">
                <a:solidFill>
                  <a:srgbClr val="595959"/>
                </a:solidFill>
              </a:rPr>
              <a:t>出典: 量子×セキュリティ講演資料 p.14-17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第4章  規制という外圧</a:t>
            </a:r>
          </a:p>
        </p:txBody>
      </p:sp>
      <p:sp>
        <p:nvSpPr>
          <p:cNvPr id="3" name="Text Placeholder 2"/>
          <p:cNvSpPr>
            <a:spLocks noGrp="1"/>
          </p:cNvSpPr>
          <p:nvPr>
            <p:ph type="body" idx="1"/>
          </p:nvPr>
        </p:nvSpPr>
        <p:spPr/>
        <p:txBody>
          <a:bodyPr/>
          <a:lstStyle/>
          <a:p>
            <a:r>
              <a:t>“やるか”から“いつまでに”へ ― 経営を動かす梃子(約10分)</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製品セキュリティ規制の同時多発 ― 世界</a:t>
            </a:r>
          </a:p>
        </p:txBody>
      </p:sp>
      <p:sp>
        <p:nvSpPr>
          <p:cNvPr id="3" name="Content Placeholder 2"/>
          <p:cNvSpPr>
            <a:spLocks noGrp="1"/>
          </p:cNvSpPr>
          <p:nvPr>
            <p:ph idx="1"/>
          </p:nvPr>
        </p:nvSpPr>
        <p:spPr/>
        <p:txBody>
          <a:bodyPr wrap="square"/>
          <a:lstStyle/>
          <a:p>
            <a:pPr>
              <a:spcBef>
                <a:spcPts val="800"/>
              </a:spcBef>
            </a:pPr>
            <a:r>
              <a:rPr sz="1600" b="1">
                <a:solidFill>
                  <a:srgbClr val="1F497D"/>
                </a:solidFill>
              </a:rPr>
              <a:t>■ EU Cyber Resilience Act(CRA, 2024施行)</a:t>
            </a:r>
          </a:p>
          <a:p>
            <a:pPr lvl="1"/>
            <a:r>
              <a:rPr sz="1350"/>
              <a:t>デジタル製品提供者にライフサイクル全体のセキュリティ管理を要求。顧客側インシデントも72時間以内の報告義務</a:t>
            </a:r>
          </a:p>
          <a:p>
            <a:pPr lvl="1"/>
            <a:r>
              <a:rPr sz="1350"/>
              <a:t>罰金はグローバル売上の2.5%か1,500万ユーロの高い方 ― “売るための条件”になった</a:t>
            </a:r>
          </a:p>
          <a:p>
            <a:pPr>
              <a:spcBef>
                <a:spcPts val="800"/>
              </a:spcBef>
            </a:pPr>
            <a:r>
              <a:rPr sz="1600" b="1">
                <a:solidFill>
                  <a:srgbClr val="1F497D"/>
                </a:solidFill>
              </a:rPr>
              <a:t>■ 各国のIoT製品ラベリング制度</a:t>
            </a:r>
          </a:p>
          <a:p>
            <a:pPr lvl="1"/>
            <a:r>
              <a:rPr sz="1350"/>
              <a:t>英 PSTI / 米 Cyber Trust Mark / シンガポール CLS</a:t>
            </a:r>
          </a:p>
          <a:p>
            <a:pPr lvl="1"/>
            <a:r>
              <a:rPr sz="1350"/>
              <a:t>日本 JC-STAR(IPA) … IoT製品のセキュリティ適合性評価制度。国際規格との同調を検討中</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
        <p:nvSpPr>
          <p:cNvPr id="14" name="TextBox 13"/>
          <p:cNvSpPr txBox="1"/>
          <p:nvPr/>
        </p:nvSpPr>
        <p:spPr>
          <a:xfrm>
            <a:off x="320040" y="4553712"/>
            <a:ext cx="8503920" cy="228600"/>
          </a:xfrm>
          <a:prstGeom prst="rect">
            <a:avLst/>
          </a:prstGeom>
          <a:noFill/>
        </p:spPr>
        <p:txBody>
          <a:bodyPr wrap="square">
            <a:spAutoFit/>
          </a:bodyPr>
          <a:lstStyle/>
          <a:p>
            <a:r>
              <a:rPr sz="850">
                <a:solidFill>
                  <a:srgbClr val="595959"/>
                </a:solidFill>
              </a:rPr>
              <a:t>出典: OTセキュリティ講演資料(2026.3) p.9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日本の規制 ― 重要インフラと製造業へ</a:t>
            </a:r>
          </a:p>
        </p:txBody>
      </p:sp>
      <p:sp>
        <p:nvSpPr>
          <p:cNvPr id="3" name="Content Placeholder 2"/>
          <p:cNvSpPr>
            <a:spLocks noGrp="1"/>
          </p:cNvSpPr>
          <p:nvPr>
            <p:ph idx="1"/>
          </p:nvPr>
        </p:nvSpPr>
        <p:spPr/>
        <p:txBody>
          <a:bodyPr wrap="square"/>
          <a:lstStyle/>
          <a:p>
            <a:pPr lvl="1"/>
            <a:r>
              <a:rPr sz="1350"/>
              <a:t>経済安全保障推進法(2022施行) … 基幹インフラの重要設備の導入・維持管理委託を国が事前審査</a:t>
            </a:r>
          </a:p>
          <a:p>
            <a:pPr lvl="1"/>
            <a:r>
              <a:rPr sz="1350"/>
              <a:t>高圧ガス保安法(2022施行) … 定期修理周期を長期化できる認定制度でサイバーセキュリティが必須要件。重大インシデントは経産大臣がIPAに事故調査を依頼</a:t>
            </a:r>
          </a:p>
          <a:p>
            <a:pPr lvl="1"/>
            <a:r>
              <a:rPr sz="1350"/>
              <a:t>経産省 サプライチェーン強化に向けたセキュリティ対策評価制度 … 受発注両面の評価負担軽減と対策向上</a:t>
            </a:r>
          </a:p>
          <a:p>
            <a:pPr>
              <a:spcBef>
                <a:spcPts val="800"/>
              </a:spcBef>
            </a:pPr>
            <a:r>
              <a:rPr sz="1600" b="1">
                <a:solidFill>
                  <a:srgbClr val="1F497D"/>
                </a:solidFill>
              </a:rPr>
              <a:t>■ 本章のまとめ ― AI・量子も同じ構図</a:t>
            </a:r>
          </a:p>
          <a:p>
            <a:pPr lvl="1"/>
            <a:r>
              <a:rPr sz="1350"/>
              <a:t>AI(米政府によるMythos統制)も量子(2030/2035期限)も、規制・統制が技術に先回りし始めた</a:t>
            </a:r>
          </a:p>
          <a:p>
            <a:pPr lvl="1"/>
            <a:r>
              <a:rPr sz="1350"/>
              <a:t>規制は「外圧」であると同時に、経営と社内を動かす「梃子」でもある</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
        <p:nvSpPr>
          <p:cNvPr id="14" name="TextBox 13"/>
          <p:cNvSpPr txBox="1"/>
          <p:nvPr/>
        </p:nvSpPr>
        <p:spPr>
          <a:xfrm>
            <a:off x="320040" y="4553712"/>
            <a:ext cx="8503920" cy="228600"/>
          </a:xfrm>
          <a:prstGeom prst="rect">
            <a:avLst/>
          </a:prstGeom>
          <a:noFill/>
        </p:spPr>
        <p:txBody>
          <a:bodyPr wrap="square">
            <a:spAutoFit/>
          </a:bodyPr>
          <a:lstStyle/>
          <a:p>
            <a:r>
              <a:rPr sz="850">
                <a:solidFill>
                  <a:srgbClr val="595959"/>
                </a:solidFill>
              </a:rPr>
              <a:t>出典: OTセキュリティ講演資料(2026.3) p.11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第5章  守り切れない前提の対策</a:t>
            </a:r>
          </a:p>
        </p:txBody>
      </p:sp>
      <p:sp>
        <p:nvSpPr>
          <p:cNvPr id="3" name="Text Placeholder 2"/>
          <p:cNvSpPr>
            <a:spLocks noGrp="1"/>
          </p:cNvSpPr>
          <p:nvPr>
            <p:ph type="body" idx="1"/>
          </p:nvPr>
        </p:nvSpPr>
        <p:spPr/>
        <p:txBody>
          <a:bodyPr/>
          <a:lstStyle/>
          <a:p>
            <a:r>
              <a:t>レジリエンスと基本 ― 検知・隔離・代替・停止(約10分)</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守り切れない前提で、レジリエンスを強化する</a:t>
            </a:r>
          </a:p>
        </p:txBody>
      </p:sp>
      <p:sp>
        <p:nvSpPr>
          <p:cNvPr id="3" name="Content Placeholder 2"/>
          <p:cNvSpPr>
            <a:spLocks noGrp="1"/>
          </p:cNvSpPr>
          <p:nvPr>
            <p:ph idx="1"/>
          </p:nvPr>
        </p:nvSpPr>
        <p:spPr/>
        <p:txBody>
          <a:bodyPr wrap="square"/>
          <a:lstStyle/>
          <a:p>
            <a:pPr lvl="1"/>
            <a:r>
              <a:rPr sz="1350"/>
              <a:t>Attack Surfaceは広範で社内に留まらない。サイバー攻撃に想定外は不可避</a:t>
            </a:r>
          </a:p>
          <a:p>
            <a:pPr lvl="1"/>
            <a:r>
              <a:rPr sz="1350"/>
              <a:t>目標は「被害の軽減」と「早期復旧」… 早く検知し、臨機応変に対応し、早く戻す</a:t>
            </a:r>
          </a:p>
          <a:p>
            <a:pPr lvl="1"/>
            <a:r>
              <a:rPr sz="1350"/>
              <a:t>IT部門だけでなく、OT技術者・サプライチェーンを含めた警戒態勢</a:t>
            </a:r>
          </a:p>
          <a:p>
            <a:pPr lvl="1"/>
            <a:r>
              <a:rPr sz="1350"/>
              <a:t>検知後に動けるための、演習(インシデント対応訓練)を伴った準備と体制 ― Norsk Hydroが動けた理由</a:t>
            </a:r>
          </a:p>
          <a:p>
            <a:pPr>
              <a:spcBef>
                <a:spcPts val="800"/>
              </a:spcBef>
            </a:pPr>
            <a:r>
              <a:rPr sz="1600" b="1">
                <a:solidFill>
                  <a:srgbClr val="1F497D"/>
                </a:solidFill>
              </a:rPr>
              <a:t>■ いざという時の選択肢は「隔離・代替・停止」</a:t>
            </a:r>
          </a:p>
          <a:p>
            <a:pPr lvl="1"/>
            <a:r>
              <a:rPr sz="1350"/>
              <a:t>どの機能を隔離できるか / 代替手段はあるか / 最悪でも安全に停止できるか</a:t>
            </a:r>
          </a:p>
          <a:p>
            <a:pPr lvl="1"/>
            <a:r>
              <a:rPr sz="1350"/>
              <a:t>機能ごとに分けた実装なら、一部機能の隔離と縮退運転で稼働を継続できる ― 隔離の観点でシステムを整理すると、インシデント対応もあるべき実装も見えてくる</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
        <p:nvSpPr>
          <p:cNvPr id="14" name="TextBox 13"/>
          <p:cNvSpPr txBox="1"/>
          <p:nvPr/>
        </p:nvSpPr>
        <p:spPr>
          <a:xfrm>
            <a:off x="320040" y="4553712"/>
            <a:ext cx="8503920" cy="228600"/>
          </a:xfrm>
          <a:prstGeom prst="rect">
            <a:avLst/>
          </a:prstGeom>
          <a:noFill/>
        </p:spPr>
        <p:txBody>
          <a:bodyPr wrap="square">
            <a:spAutoFit/>
          </a:bodyPr>
          <a:lstStyle/>
          <a:p>
            <a:r>
              <a:rPr sz="850">
                <a:solidFill>
                  <a:srgbClr val="595959"/>
                </a:solidFill>
              </a:rPr>
              <a:t>出典: OTセキュリティ講演資料(2026.3) p.14-15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ライフサイクル管理 ― SBOM・ゼロトラスト・共通モデル</a:t>
            </a:r>
          </a:p>
        </p:txBody>
      </p:sp>
      <p:sp>
        <p:nvSpPr>
          <p:cNvPr id="3" name="Content Placeholder 2"/>
          <p:cNvSpPr>
            <a:spLocks noGrp="1"/>
          </p:cNvSpPr>
          <p:nvPr>
            <p:ph idx="1"/>
          </p:nvPr>
        </p:nvSpPr>
        <p:spPr/>
        <p:txBody>
          <a:bodyPr wrap="square"/>
          <a:lstStyle/>
          <a:p>
            <a:pPr lvl="1"/>
            <a:r>
              <a:rPr sz="1350"/>
              <a:t>セキュリティの破綻はセーフティの破綻に直結 ― 脆弱性発生時は安全リスクも同時評価し、必要なら運転を止める判断を</a:t>
            </a:r>
          </a:p>
          <a:p>
            <a:pPr lvl="1"/>
            <a:r>
              <a:rPr sz="1350"/>
              <a:t>SBOM(2021米大統領令) … どこにどのモジュールが使われているかを管理し、脆弱性DB(CVE/NVD/JVN)と連携して即応 ― AIが脆弱性を量産する時代には必須の台帳</a:t>
            </a:r>
          </a:p>
          <a:p>
            <a:pPr lvl="1"/>
            <a:r>
              <a:rPr sz="1350"/>
              <a:t>ゼロトラスト … 水際では防ぎきれない。「ここは信頼できる」という前提を置かず、被害発生箇所に近い監視を重視</a:t>
            </a:r>
          </a:p>
          <a:p>
            <a:pPr lvl="1"/>
            <a:r>
              <a:rPr sz="1350"/>
              <a:t>開発(DevSecOps)から保守まで、DFDなどの共通モデルで「検知・隔離・代替・停止」を設計段階から議論する</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
        <p:nvSpPr>
          <p:cNvPr id="14" name="TextBox 13"/>
          <p:cNvSpPr txBox="1"/>
          <p:nvPr/>
        </p:nvSpPr>
        <p:spPr>
          <a:xfrm>
            <a:off x="320040" y="4553712"/>
            <a:ext cx="8503920" cy="228600"/>
          </a:xfrm>
          <a:prstGeom prst="rect">
            <a:avLst/>
          </a:prstGeom>
          <a:noFill/>
        </p:spPr>
        <p:txBody>
          <a:bodyPr wrap="square">
            <a:spAutoFit/>
          </a:bodyPr>
          <a:lstStyle/>
          <a:p>
            <a:r>
              <a:rPr sz="850">
                <a:solidFill>
                  <a:srgbClr val="595959"/>
                </a:solidFill>
              </a:rPr>
              <a:t>出典: OTセキュリティ講演資料(2026.3) p.17-27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まとめ ― AIも量子も、分解すれば「我々の土俵」</a:t>
            </a:r>
          </a:p>
        </p:txBody>
      </p:sp>
      <p:sp>
        <p:nvSpPr>
          <p:cNvPr id="3" name="Content Placeholder 2"/>
          <p:cNvSpPr>
            <a:spLocks noGrp="1"/>
          </p:cNvSpPr>
          <p:nvPr>
            <p:ph idx="1"/>
          </p:nvPr>
        </p:nvSpPr>
        <p:spPr/>
        <p:txBody>
          <a:bodyPr wrap="square"/>
          <a:lstStyle/>
          <a:p>
            <a:pPr lvl="1"/>
            <a:r>
              <a:rPr sz="1350"/>
              <a:t>AIの攻撃も、物理被害の経路は従来と同じ ― プログラムと無関係な安全対策という拠り所は揺らがない</a:t>
            </a:r>
          </a:p>
          <a:p>
            <a:pPr lvl="1"/>
            <a:r>
              <a:rPr sz="1350"/>
              <a:t>量子も、やることは棚卸し→優先順位→計画→体制という「いつものリスク管理」</a:t>
            </a:r>
          </a:p>
          <a:p>
            <a:pPr lvl="1"/>
            <a:r>
              <a:rPr sz="1350"/>
              <a:t>変わったのは「速度」と「期限」。変わらないのは「基本」</a:t>
            </a:r>
          </a:p>
          <a:p>
            <a:pPr>
              <a:spcBef>
                <a:spcPts val="800"/>
              </a:spcBef>
            </a:pPr>
            <a:r>
              <a:rPr sz="1600" b="1">
                <a:solidFill>
                  <a:srgbClr val="1F497D"/>
                </a:solidFill>
              </a:rPr>
              <a:t>■ 明日からの3アクション</a:t>
            </a:r>
          </a:p>
          <a:p>
            <a:pPr lvl="1"/>
            <a:r>
              <a:rPr sz="1350"/>
              <a:t>① 自社設備の「プログラムと無関係な安全対策」を1つ確認する(拠り所の棚卸し)</a:t>
            </a:r>
          </a:p>
          <a:p>
            <a:pPr lvl="1"/>
            <a:r>
              <a:rPr sz="1350"/>
              <a:t>② 暗号インベントリの着手を提案する(モスカの不等式を最重要資産1件で試算)</a:t>
            </a:r>
          </a:p>
          <a:p>
            <a:pPr lvl="1"/>
            <a:r>
              <a:rPr sz="1350"/>
              <a:t>③ 主要ベンダー・委託先に「AI時代の脆弱性対応・PQC対応の計画は?」と一通問い合わせる</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主な出典</a:t>
            </a:r>
          </a:p>
        </p:txBody>
      </p:sp>
      <p:sp>
        <p:nvSpPr>
          <p:cNvPr id="3" name="Content Placeholder 2"/>
          <p:cNvSpPr>
            <a:spLocks noGrp="1"/>
          </p:cNvSpPr>
          <p:nvPr>
            <p:ph idx="1"/>
          </p:nvPr>
        </p:nvSpPr>
        <p:spPr/>
        <p:txBody>
          <a:bodyPr wrap="square"/>
          <a:lstStyle/>
          <a:p>
            <a:pPr lvl="1"/>
            <a:r>
              <a:rPr sz="1350"/>
              <a:t>事例・OT・規制: 橋本芳宏「製造業が取り組むべき“OTセキュリティ”の最新動向と対策」(2026.3)</a:t>
            </a:r>
          </a:p>
          <a:p>
            <a:pPr lvl="1"/>
            <a:r>
              <a:rPr sz="1350"/>
              <a:t>量子: 「量子コンピューティング×セキュリティ ― 経営・ガバナンスの視点で」講演資料(2026)/NIST FIPS 203-205/CRYPTREC暗号リストLS-0001-2022R2(2026.3)</a:t>
            </a:r>
          </a:p>
          <a:p>
            <a:pPr lvl="1"/>
            <a:r>
              <a:rPr sz="1350"/>
              <a:t>AIへの姿勢: 橋本芳宏「高度なAIによりプラントの安全は破綻する?」(2026.6原稿)</a:t>
            </a:r>
          </a:p>
          <a:p>
            <a:pPr lvl="1"/>
            <a:r>
              <a:rPr sz="1350"/>
              <a:t>Mythos関連: Anthropic Frontier Red Team(red.anthropic.com/2026/mythos-preview)/anthropic.com/glasswing/Axios(2026.6.12)/CNN・Bloomberg・Forbes・CNBC(2026.6)</a:t>
            </a:r>
          </a:p>
          <a:p>
            <a:pPr lvl="1"/>
            <a:r>
              <a:rPr sz="1350"/>
              <a:t>AI主導型攻撃: Anthropic「Disrupting the first reported AI-orchestrated cyber espionage campaign」(2025.11)/MITRE ATT&amp;CK C0062</a:t>
            </a:r>
          </a:p>
          <a:p>
            <a:pPr lvl="2"/>
            <a:r>
              <a:rPr sz="1200"/>
              <a:t>※ Mythos関連の日付・数値は報道ベースの部分を含む。講義直前に提供状況・最新報道の再確認を推奨</a:t>
            </a:r>
          </a:p>
        </p:txBody>
      </p:sp>
      <p:sp>
        <p:nvSpPr>
          <p:cNvPr id="13" name="フッター プレースホルダー 12">
            <a:extLst>
              <a:ext uri="{FF2B5EF4-FFF2-40B4-BE49-F238E27FC236}">
                <a16:creationId xmlns:a16="http://schemas.microsoft.com/office/drawing/2014/main" id="{B7129048-E8F3-5AF0-57BA-4468463AD4A2}"/>
              </a:ext>
            </a:extLst>
          </p:cNvPr>
          <p:cNvSpPr>
            <a:spLocks noGrp="1"/>
          </p:cNvSpPr>
          <p:nvPr>
            <p:ph type="ftr" sz="quarter" idx="13"/>
          </p:nvPr>
        </p:nvSpPr>
        <p:spPr>
          <a:xfrm>
            <a:off x="2613472" y="4767263"/>
            <a:ext cx="3917056" cy="273844"/>
          </a:xfrm>
        </p:spPr>
        <p:txBody>
          <a:bodyPr/>
          <a:lstStyle/>
          <a:p>
            <a:r>
              <a:rPr lang="en-US" altLang="ja-JP"/>
              <a:t>© Innovation Platform Agency, Japan
Industrial Cyber Security Center of Excellence</a:t>
            </a:r>
            <a:endParaRPr lang="ja-JP" altLang="en-US" dirty="0"/>
          </a:p>
        </p:txBody>
      </p:sp>
      <p:sp>
        <p:nvSpPr>
          <p:cNvPr id="4" name="スライド番号プレースホルダー 3">
            <a:extLst>
              <a:ext uri="{FF2B5EF4-FFF2-40B4-BE49-F238E27FC236}">
                <a16:creationId xmlns:a16="http://schemas.microsoft.com/office/drawing/2014/main" id="{65C1DE27-BF52-5B65-3AF3-3CDDE979DF28}"/>
              </a:ext>
            </a:extLst>
          </p:cNvPr>
          <p:cNvSpPr>
            <a:spLocks noGrp="1"/>
          </p:cNvSpPr>
          <p:nvPr>
            <p:ph type="sldNum" sz="quarter" idx="12"/>
          </p:nvPr>
        </p:nvSpPr>
        <p:spPr>
          <a:xfrm>
            <a:off x="7662930" y="4767263"/>
            <a:ext cx="852420" cy="273844"/>
          </a:xfrm>
        </p:spPr>
        <p:txBody>
          <a:bodyPr/>
          <a:lstStyle/>
          <a:p>
            <a:fld id="{6BA56727-FBE4-4150-A67F-8D3E9BCF0665}" type="slidenum">
              <a:rPr lang="ja-JP" altLang="en-US" smtClean="0"/>
              <a:pPr/>
              <a:t>3</a:t>
            </a:fld>
            <a:endParaRPr lang="ja-JP" altLang="en-US"/>
          </a:p>
        </p:txBody>
      </p:sp>
    </p:spTree>
  </p:cSld>
  <p:clrMapOvr>
    <a:masterClrMapping/>
  </p:clrMapOvr>
</p:sld>
</file>

<file path=ppt/theme/theme1.xml><?xml version="1.0" encoding="utf-8"?>
<a:theme xmlns:a="http://schemas.openxmlformats.org/drawingml/2006/main" name="Office 2013 - 2022 テーマ">
  <a:themeElements>
    <a:clrScheme name="Office 2013 - 2022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22108</TotalTime>
  <Words>121</Words>
  <Application>Microsoft Macintosh PowerPoint</Application>
  <PresentationFormat>画面に合わせる (16:9)</PresentationFormat>
  <Paragraphs>21</Paragraphs>
  <Slides>4</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4</vt:i4>
      </vt:variant>
    </vt:vector>
  </HeadingPairs>
  <TitlesOfParts>
    <vt:vector size="12" baseType="lpstr">
      <vt:lpstr>HG明朝B</vt:lpstr>
      <vt:lpstr>ＭＳ Ｐゴシック</vt:lpstr>
      <vt:lpstr>MS Gothic</vt:lpstr>
      <vt:lpstr>メイリオ</vt:lpstr>
      <vt:lpstr>Arial</vt:lpstr>
      <vt:lpstr>Calibri</vt:lpstr>
      <vt:lpstr>Wingdings</vt:lpstr>
      <vt:lpstr>Office 2013 - 2022 テーマ</vt:lpstr>
      <vt:lpstr>産業サイバーセキュリティセンターにおける OTインシデント対応・BCPコース</vt:lpstr>
      <vt:lpstr>TLPv.2 (Traffic Light Protocol)の表示・共有レベル </vt:lpstr>
      <vt:lpstr>PowerPoint プレゼンテーション</vt:lpstr>
      <vt:lpstr>基本のテンプレート</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荒川 明夫</dc:creator>
  <cp:lastModifiedBy>越島　一郎</cp:lastModifiedBy>
  <cp:revision>155</cp:revision>
  <cp:lastPrinted>2021-08-22T18:33:02Z</cp:lastPrinted>
  <dcterms:created xsi:type="dcterms:W3CDTF">2017-06-30T02:10:03Z</dcterms:created>
  <dcterms:modified xsi:type="dcterms:W3CDTF">2026-07-15T03:06:17Z</dcterms:modified>
</cp:coreProperties>
</file>