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7" r:id="rId1"/>
  </p:sldMasterIdLst>
  <p:notesMasterIdLst>
    <p:notesMasterId r:id="rId6"/>
  </p:notesMasterIdLst>
  <p:sldIdLst>
    <p:sldId id="259" r:id="rId2"/>
    <p:sldId id="609" r:id="rId3"/>
    <p:sldId id="610" r:id="rId5"/>
    <p:sldId id="611" r:id="rId4"/>
    <p:sldId id="612" r:id="rId11"/>
    <p:sldId id="613" r:id="rId12"/>
    <p:sldId id="614" r:id="rId13"/>
    <p:sldId id="615" r:id="rId14"/>
    <p:sldId id="616" r:id="rId15"/>
    <p:sldId id="617" r:id="rId16"/>
    <p:sldId id="618" r:id="rId17"/>
    <p:sldId id="619" r:id="rId18"/>
    <p:sldId id="620" r:id="rId19"/>
    <p:sldId id="621" r:id="rId20"/>
    <p:sldId id="622" r:id="rId21"/>
    <p:sldId id="623" r:id="rId22"/>
    <p:sldId id="624" r:id="rId23"/>
    <p:sldId id="625" r:id="rId24"/>
    <p:sldId id="626" r:id="rId25"/>
    <p:sldId id="627" r:id="rId26"/>
    <p:sldId id="628" r:id="rId27"/>
    <p:sldId id="629" r:id="rId28"/>
    <p:sldId id="630" r:id="rId29"/>
    <p:sldId id="631" r:id="rId30"/>
    <p:sldId id="632" r:id="rId31"/>
    <p:sldId id="633" r:id="rId32"/>
    <p:sldId id="634" r:id="rId33"/>
    <p:sldId id="635" r:id="rId34"/>
    <p:sldId id="636" r:id="rId35"/>
    <p:sldId id="637" r:id="rId36"/>
    <p:sldId id="638" r:id="rId37"/>
    <p:sldId id="639" r:id="rId38"/>
    <p:sldId id="640" r:id="rId39"/>
    <p:sldId id="641" r:id="rId40"/>
    <p:sldId id="642" r:id="rId41"/>
  </p:sldIdLst>
  <p:sldSz cx="9144000" cy="5143500" type="screen16x9"/>
  <p:notesSz cx="7102475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80" userDrawn="1">
          <p15:clr>
            <a:srgbClr val="A4A3A4"/>
          </p15:clr>
        </p15:guide>
        <p15:guide id="2" orient="horz" pos="2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FFD579"/>
    <a:srgbClr val="FFFFFF"/>
    <a:srgbClr val="FFCCFF"/>
    <a:srgbClr val="1F4E7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5"/>
    <p:restoredTop sz="81781" autoAdjust="0"/>
  </p:normalViewPr>
  <p:slideViewPr>
    <p:cSldViewPr snapToGrid="0">
      <p:cViewPr varScale="1">
        <p:scale>
          <a:sx n="280" d="100"/>
          <a:sy n="280" d="100"/>
        </p:scale>
        <p:origin x="200" y="448"/>
      </p:cViewPr>
      <p:guideLst>
        <p:guide pos="680"/>
        <p:guide orient="horz" pos="2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E4D787E3-C620-4F6A-8725-8920347D81D0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9066" tIns="49533" rIns="99066" bIns="49533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092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4E9AC776-E4A9-47DC-B286-3534BF2881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1737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AC776-E4A9-47DC-B286-3534BF288198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1377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【約3分】講義の主張を先に示す。「新しい脅威の話をするが、結論は基本に立ち返ること」と予告し、受講者の不安を煽るだけの講義ではないことを明確にする。下の3枚のカードが本日の3つの地殻変動。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【約2分】時間配分を宣言。第2章(AI/Mythos)が本講義の新規部分であり最も厚いことを伝える。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事例は「情報系→対応の巧拙→物理・安全系→戦争」の順で、被害の階段を上っていく構成。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【約3分】身近な国内事例(アサヒ)から入ると受講者の当事者意識が高まる。右図はColonial Pipelineの供給網。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【約3分】第5章(レジリエンス)への伏線。「手動操業に切り替えられた=拠り所があった」ことを強調。右図は同社の現場対応(YouTube公開動画)。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【約3分】右図はイラン製鉄所攻撃の公開映像(Gonjeshke Darande)。第2章の「物理的な安全対策が拠り所」の議論の前提として、安全系が狙われる現実を先に示す。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【約3分】2026年の2事例は元資料(OT講演p.5)に準拠。数字(死傷者数)は講義前に最新報道で再確認のこと。右図は同資料のイメージ。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【約3分】右図はマルウェア年間発生数の推移。「守り切れない」を悲観ではなく設計思想の転換として提示し、第2章へ橋渡し。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本講義の中核。前半(事実パート)はWeb公開情報、後半(姿勢パート)は原稿「高度なAIによりプラントの安全は破綻する?」に基づく。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【約3分】AIの進歩を「善悪両用の労働力の出現」として位置づける。年表で2022→2026の加速を見せ、次スライドから攻撃側の実例3連発。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【約3分】実際に起きた事件として確度が高い事例。Mythos以前にすでに転換点は来ていたことを示す。図は攻撃の流れ。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【約3分】数字は発表時点の公開情報(72.4%はFirefox JSシェルでのエクスプロイト化成功率)。講義直前にred.anthropic.comの最新版を再確認のこと。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【約3分】ここは事実を淡々と。過度にSF的に語らず、「開発元自身が統制リスクを認めて公開を絞った」点が要点。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【約2分】脅威一辺倒にせず、防御側の動きを対で見せる。受講者の実務(パッチ管理)に接続する。図は攻防の時間競争の構図。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【約3分】タイムライン(下図)は報道ベース。日付の細部は講義前に再確認。ここまでが「事実」、次から「姿勢」。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【約2分】議論の土俵を定義するスライド。(B)を範囲外と明示することで議論が発散しない。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【約3分】本講義で最も伝えたいスライドの一つ。「AIの高度化」と「物理法則」を対比させる。右図の緑の層が拠り所。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【約3分】第2章の結論。4ステップの順序(拠り所→検知→停止・復旧→高度化)を「順序を逆にしない」と強調。第5章で具体化することを予告して章を閉じる。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量子×セキュリティ講演資料のエッセンスを15分に凝縮。技術は1枚、あとはリスクと期限の話に徹する。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【約2分】物理の話はここで終わり、と宣言すると安心感が出る。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【約3分】第2章のAI(現在進行形の脅威)との対比で、「量子も実は現在進行形」という導線。図で「手遅れ区間」を指し示す。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【約3分】本章で一番の持ち帰りツール。受講者に自社のXを1つ思い浮かべてもらう問いかけを入れる。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【約3分】表は読み上げず「2030/2035に収斂している」ことだけ強調。日本の行(CRYPTREC)を丁寧に。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【約2分】「気づかないうちに自分のブラウザもPQを使っている」ことを右図(50%超)で示すと実感が湧く。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【約2分】5ステップは詳細に入らず全体像のみ。詳細は元講演資料を配布資料として案内する想定。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規制は脅しではなく「社内を動かす道具」として紹介するトーン。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【約3分】CRAの罰金額(売上2.5%か€15M)で注意を引き、JC-STARで日本の実務に着地させる。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【約3分】第2章(Mythos統制)・第3章(移行期限)と規制をひとつの構図に束ねる。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第2章の結論(検知重視・停止・早期復旧)を、OT講演資料の枠組みで実務に落とす。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【約4分】下図は「攻撃→検知→復旧」のレジリエンス曲線。「隔離・代替・停止」は本講義のキーワードとして繰り返す。AI攻撃(第2章)にもそのまま通用する。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【約3分】SBOMは「AIによる脆弱性発見の洪水(第2章)への現実的な備え」として位置づけ直すのがポイント。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【約3分】3アクションは第2章・第3章・第4章それぞれの持ち帰り。受講者を勇気づけて締める。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出典スライド。Mythos関連は状況が動いているため、講義直前の再確認を注記済み。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76257"/>
            <a:ext cx="9144000" cy="355809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56727-FBE4-4150-A67F-8D3E9BCF066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559398" y="1928309"/>
            <a:ext cx="8143538" cy="1274781"/>
          </a:xfrm>
          <a:prstGeom prst="rect">
            <a:avLst/>
          </a:prstGeom>
          <a:solidFill>
            <a:srgbClr val="1F4E79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 dirty="0">
              <a:latin typeface="+mj-ea"/>
              <a:ea typeface="+mj-ea"/>
            </a:endParaRP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6904" y="4820672"/>
            <a:ext cx="4970195" cy="140525"/>
          </a:xfrm>
          <a:prstGeom prst="rect">
            <a:avLst/>
          </a:prstGeom>
        </p:spPr>
        <p:txBody>
          <a:bodyPr anchor="ctr"/>
          <a:lstStyle>
            <a:lvl1pPr algn="ctr">
              <a:defRPr sz="60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en-US" altLang="ja-JP"/>
              <a:t>© Innovation Platform Agency, Japan
Industrial Cyber Security Center of Excellence</a:t>
            </a:r>
            <a:endParaRPr lang="ja-JP" altLang="en-US" sz="600" dirty="0"/>
          </a:p>
        </p:txBody>
      </p:sp>
      <p:sp>
        <p:nvSpPr>
          <p:cNvPr id="7" name="タイトル 1"/>
          <p:cNvSpPr>
            <a:spLocks noGrp="1"/>
          </p:cNvSpPr>
          <p:nvPr>
            <p:ph type="ctrTitle" hasCustomPrompt="1"/>
          </p:nvPr>
        </p:nvSpPr>
        <p:spPr>
          <a:xfrm>
            <a:off x="559398" y="1928307"/>
            <a:ext cx="8143538" cy="1274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FFFFFF"/>
            </a:outerShdw>
          </a:effectLst>
        </p:spPr>
        <p:txBody>
          <a:bodyPr vert="horz" wrap="square" lIns="104293" tIns="0" rIns="104293" bIns="0" numCol="1" anchor="ctr" anchorCtr="0" compatLnSpc="1">
            <a:prstTxWarp prst="textNoShape">
              <a:avLst/>
            </a:prstTxWarp>
            <a:no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lang="ja-JP" altLang="en-US" sz="2400" b="0" i="0" baseline="0">
                <a:solidFill>
                  <a:srgbClr val="000000"/>
                </a:solidFill>
                <a:effectLst/>
                <a:latin typeface="ＭＳ Ｐゴシック" pitchFamily="50" charset="-128"/>
                <a:ea typeface="ＭＳ Ｐゴシック" pitchFamily="50" charset="-128"/>
                <a:cs typeface="+mj-cs"/>
              </a:defRPr>
            </a:lvl1pPr>
          </a:lstStyle>
          <a:p>
            <a:r>
              <a:rPr kumimoji="1" lang="ja-JP" altLang="en-US"/>
              <a:t>マスタ タイトルの書式設定</a:t>
            </a:r>
            <a:endParaRPr kumimoji="1" lang="ja-JP" altLang="en-US" dirty="0"/>
          </a:p>
        </p:txBody>
      </p:sp>
      <p:sp>
        <p:nvSpPr>
          <p:cNvPr id="8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559398" y="3554236"/>
            <a:ext cx="8143538" cy="499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104293" tIns="52146" rIns="104293" bIns="52146" numCol="1" anchor="t" anchorCtr="0" compatLnSpc="1">
            <a:prstTxWarp prst="textNoShape">
              <a:avLst/>
            </a:prstTxWarp>
            <a:noAutofit/>
          </a:bodyPr>
          <a:lstStyle>
            <a:lvl1pPr marL="0" marR="0" indent="0" algn="l" defTabSz="31096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1" lang="ja-JP" altLang="en-US" sz="1361" b="0">
                <a:solidFill>
                  <a:srgbClr val="0432FF"/>
                </a:solidFill>
                <a:latin typeface="HG明朝B" panose="02020809000000000000" pitchFamily="17" charset="-128"/>
                <a:ea typeface="HG明朝B" panose="02020809000000000000" pitchFamily="17" charset="-128"/>
                <a:cs typeface="+mn-cs"/>
              </a:defRPr>
            </a:lvl1pPr>
            <a:lvl2pPr marL="334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688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032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377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672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06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41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6754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サブタイトル</a:t>
            </a:r>
            <a:endParaRPr kumimoji="1" lang="en-US" altLang="ja-JP" dirty="0"/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64039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5762" y="4767263"/>
            <a:ext cx="1146221" cy="273844"/>
          </a:xfrm>
        </p:spPr>
        <p:txBody>
          <a:bodyPr/>
          <a:lstStyle/>
          <a:p>
            <a:fld id="{421F367F-F268-9247-AE28-FDDFB178BD6F}" type="datetime1">
              <a:rPr lang="ja-JP" altLang="en-US" smtClean="0"/>
              <a:t>2026/7/15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56727-FBE4-4150-A67F-8D3E9BCF0665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1128402D-A46B-5C31-03B5-43AEF8B11F1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7060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3571-ACCA-EC41-A76B-FC50A6E9C3EC}" type="datetime1">
              <a:rPr lang="ja-JP" altLang="en-US" smtClean="0"/>
              <a:t>2026/7/15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56727-FBE4-4150-A67F-8D3E9BCF06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4442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853B-6348-E743-AA2C-0BA562B358B7}" type="datetime1">
              <a:rPr lang="ja-JP" altLang="en-US" smtClean="0"/>
              <a:t>2026/7/15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56727-FBE4-4150-A67F-8D3E9BCF06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1542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B8EAC-54C4-ED4D-8F14-29034F5D6C50}" type="datetime1">
              <a:rPr lang="ja-JP" altLang="en-US" smtClean="0"/>
              <a:t>2026/7/15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56727-FBE4-4150-A67F-8D3E9BCF066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3111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25DD1-264C-CE4E-B910-5319A6F05B65}" type="datetime1">
              <a:rPr lang="ja-JP" altLang="en-US" smtClean="0"/>
              <a:t>2026/7/15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56727-FBE4-4150-A67F-8D3E9BCF066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7019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55C4-15EA-2248-9B27-6CC66281E569}" type="datetime1">
              <a:rPr lang="ja-JP" altLang="en-US" smtClean="0"/>
              <a:t>2026/7/15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Innovation Platform Agency, Japan
Industrial Cyber Security Center of Excellence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65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E9FB-2AAC-A34C-9312-14DBD5CC08D1}" type="datetime1">
              <a:rPr lang="ja-JP" altLang="en-US" smtClean="0"/>
              <a:t>2026/7/15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56727-FBE4-4150-A67F-8D3E9BCF066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418970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Relationship Id="rId11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5763" y="4767263"/>
            <a:ext cx="78990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113CE-3560-1249-8FB3-99B3C544DD6A}" type="datetime1">
              <a:rPr lang="ja-JP" altLang="en-US" smtClean="0"/>
              <a:t>2026/7/15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13472" y="4767263"/>
            <a:ext cx="39170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ja-JP" dirty="0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2930" y="4767263"/>
            <a:ext cx="8524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6727-FBE4-4150-A67F-8D3E9BCF0665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C09A03CA-F11A-E309-8A12-B7D124EC61E9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418635" y="39382"/>
            <a:ext cx="725365" cy="714375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AA651A2-9AE2-5380-421B-19E236C8BBF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4632722"/>
            <a:ext cx="485651" cy="49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78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MS Gothic" panose="020B0609070205080204" pitchFamily="49" charset="-128"/>
          <a:ea typeface="MS Gothic" panose="020B0609070205080204" pitchFamily="49" charset="-128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S Gothic" panose="020B0609070205080204" pitchFamily="49" charset="-128"/>
          <a:ea typeface="MS Gothic" panose="020B0609070205080204" pitchFamily="49" charset="-128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600"/>
        </a:spcBef>
        <a:buSzPct val="80000"/>
        <a:buFont typeface="Wingdings" pitchFamily="2" charset="2"/>
        <a:buChar char="n"/>
        <a:defRPr sz="1600" kern="1200">
          <a:solidFill>
            <a:schemeClr val="tx1"/>
          </a:solidFill>
          <a:latin typeface="MS Gothic" panose="020B0609070205080204" pitchFamily="49" charset="-128"/>
          <a:ea typeface="MS Gothic" panose="020B0609070205080204" pitchFamily="49" charset="-128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600"/>
        </a:spcBef>
        <a:buSzPct val="80000"/>
        <a:buFont typeface="Wingdings" pitchFamily="2" charset="2"/>
        <a:buChar char="u"/>
        <a:defRPr sz="1400" kern="1200">
          <a:solidFill>
            <a:schemeClr val="tx1"/>
          </a:solidFill>
          <a:latin typeface="MS Gothic" panose="020B0609070205080204" pitchFamily="49" charset="-128"/>
          <a:ea typeface="MS Gothic" panose="020B0609070205080204" pitchFamily="49" charset="-128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MS Gothic" panose="020B0609070205080204" pitchFamily="49" charset="-128"/>
          <a:ea typeface="MS Gothic" panose="020B0609070205080204" pitchFamily="49" charset="-128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600"/>
        </a:spcBef>
        <a:buSzPct val="80000"/>
        <a:buFont typeface="Wingdings" pitchFamily="2" charset="2"/>
        <a:buChar char="Ø"/>
        <a:defRPr sz="1200" kern="1200">
          <a:solidFill>
            <a:schemeClr val="tx1"/>
          </a:solidFill>
          <a:latin typeface="MS Gothic" panose="020B0609070205080204" pitchFamily="49" charset="-128"/>
          <a:ea typeface="MS Gothic" panose="020B0609070205080204" pitchFamily="49" charset="-128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サイバー攻撃の近況</a:t>
            </a:r>
          </a:p>
        </p:txBody>
      </p:sp>
      <p:sp>
        <p:nvSpPr>
          <p:cNvPr id="4" name="サブタイトル 3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1600" b="1"/>
              <a:t>― AI・量子・地政学がもたらす新局面と、変わらない基本 ―</a:t>
            </a:r>
          </a:p>
          <a:p/>
          <a:p>
            <a:r>
              <a:rPr sz="1200"/>
              <a:t>名古屋工業大学ものづくりDX研究所 名誉教授</a:t>
            </a:r>
          </a:p>
          <a:p>
            <a:r>
              <a:rPr sz="1200"/>
              <a:t>IPA産業サイバーセキュリティセンター専門委員</a:t>
            </a:r>
          </a:p>
          <a:p>
            <a:r>
              <a:rPr sz="1200"/>
              <a:t>橋本 芳宏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AA7FFB1-520B-2F4D-C9A8-BBBA6E8E19F1}"/>
              </a:ext>
            </a:extLst>
          </p:cNvPr>
          <p:cNvSpPr txBox="1"/>
          <p:nvPr/>
        </p:nvSpPr>
        <p:spPr>
          <a:xfrm>
            <a:off x="68226" y="69678"/>
            <a:ext cx="2334732" cy="276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 err="1">
                <a:solidFill>
                  <a:srgbClr val="92D050"/>
                </a:solidFill>
              </a:rPr>
              <a:t>ICSCoE_TLP</a:t>
            </a:r>
            <a:r>
              <a:rPr lang="en-US" altLang="ja-JP" sz="1200" dirty="0">
                <a:solidFill>
                  <a:srgbClr val="92D050"/>
                </a:solidFill>
              </a:rPr>
              <a:t> : GREEN [</a:t>
            </a:r>
            <a:r>
              <a:rPr lang="ja-JP" altLang="en-US" sz="1200">
                <a:solidFill>
                  <a:srgbClr val="92D050"/>
                </a:solidFill>
              </a:rPr>
              <a:t>第</a:t>
            </a:r>
            <a:r>
              <a:rPr lang="en-US" altLang="ja-JP" sz="1200" dirty="0">
                <a:solidFill>
                  <a:srgbClr val="92D050"/>
                </a:solidFill>
              </a:rPr>
              <a:t>10</a:t>
            </a:r>
            <a:r>
              <a:rPr lang="ja-JP" altLang="en-US" sz="1200">
                <a:solidFill>
                  <a:srgbClr val="92D050"/>
                </a:solidFill>
              </a:rPr>
              <a:t>期</a:t>
            </a:r>
            <a:r>
              <a:rPr lang="en-US" altLang="ja-JP" sz="1200" dirty="0">
                <a:solidFill>
                  <a:srgbClr val="92D050"/>
                </a:solidFill>
              </a:rPr>
              <a:t>]</a:t>
            </a:r>
            <a:endParaRPr kumimoji="1" lang="ja-JP" altLang="en-US" sz="120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680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47A943C-794C-A842-B94E-33C9B18C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TLPv.2 (Traffic Light Protocol)</a:t>
            </a:r>
            <a:r>
              <a:rPr lang="ja-JP" altLang="ja-JP"/>
              <a:t>の表示・共有レベル 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2D13C49-FCBD-4ECC-AA3F-844F169D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56727-FBE4-4150-A67F-8D3E9BCF0665}" type="slidenum">
              <a:rPr lang="ja-JP" altLang="en-US" smtClean="0"/>
              <a:pPr/>
              <a:t>1</a:t>
            </a:fld>
            <a:endParaRPr lang="ja-JP" altLang="en-US"/>
          </a:p>
        </p:txBody>
      </p:sp>
      <p:pic>
        <p:nvPicPr>
          <p:cNvPr id="8" name="図 7" descr="TLPv2定義一覧表">
            <a:extLst>
              <a:ext uri="{FF2B5EF4-FFF2-40B4-BE49-F238E27FC236}">
                <a16:creationId xmlns:a16="http://schemas.microsoft.com/office/drawing/2014/main" id="{6AAD1587-7F6C-4BB7-EA56-CBFB78D6F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58" y="1327408"/>
            <a:ext cx="685800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428063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本講義のゴールと全体地図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1691640"/>
          </a:xfrm>
        </p:spPr>
        <p:txBody>
          <a:bodyPr wrap="square"/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本講義のゴール</a:t>
            </a:r>
          </a:p>
          <a:p>
            <a:pPr lvl="1"/>
            <a:r>
              <a:rPr sz="1350"/>
              <a:t>「サイバー攻撃のいま」を、自組織の経営層・現場に自分の言葉で説明できる状態で持ち帰る</a:t>
            </a:r>
          </a:p>
          <a:p>
            <a:pPr lvl="1"/>
            <a:r>
              <a:rPr sz="1350"/>
              <a:t>個別事件の暗記ではなく、「何が変わり、何が変わらないか」の判断軸を持つ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本講義の主張 ― 局面は新しいが、やるべきことは「いつものサイバーセキュリティ」に帰着する</a:t>
            </a:r>
          </a:p>
        </p:txBody>
      </p:sp>
      <p:pic>
        <p:nvPicPr>
          <p:cNvPr id="4" name="Picture 3" descr="three_shif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772" y="3115722"/>
            <a:ext cx="6206455" cy="1410557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本日の構成(80分)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2240280"/>
          </a:xfrm>
        </p:spPr>
        <p:txBody>
          <a:bodyPr wrap="square"/>
          <a:lstStyle/>
          <a:p>
            <a:pPr lvl="1"/>
            <a:r>
              <a:rPr sz="1350"/>
              <a:t>1. サイバー攻撃の近況 ― 事例に見る変化(約15分)</a:t>
            </a:r>
          </a:p>
          <a:p>
            <a:pPr lvl="1"/>
            <a:r>
              <a:rPr sz="1350"/>
              <a:t>2. AIの新局面 ― “Mythos問題”をどう捉えるか(約25分)</a:t>
            </a:r>
          </a:p>
          <a:p>
            <a:pPr lvl="1"/>
            <a:r>
              <a:rPr sz="1350"/>
              <a:t>3. 量子という時限爆弾 ― “まだ先”ではない理由(約15分)</a:t>
            </a:r>
          </a:p>
          <a:p>
            <a:pPr lvl="1"/>
            <a:r>
              <a:rPr sz="1350"/>
              <a:t>4. 規制という外圧 ― “やるか”から“いつまでに”へ(約10分)</a:t>
            </a:r>
          </a:p>
          <a:p>
            <a:pPr lvl="1"/>
            <a:r>
              <a:rPr sz="1350"/>
              <a:t>5. 守り切れない前提の対策 ― レジリエンスと基本(約7分)</a:t>
            </a:r>
          </a:p>
          <a:p>
            <a:pPr lvl="1"/>
            <a:r>
              <a:rPr sz="1350"/>
              <a:t>まとめ ― 明日からの3アクション(約3分)</a:t>
            </a:r>
          </a:p>
        </p:txBody>
      </p:sp>
      <p:pic>
        <p:nvPicPr>
          <p:cNvPr id="4" name="Picture 3" descr="agenda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26" y="3664361"/>
            <a:ext cx="6624347" cy="861918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第1章  サイバー攻撃の近況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ランサムウェアからOT・戦争まで ― 事例に見る変化(約15分)</a:t>
            </a:r>
          </a:p>
        </p:txBody>
      </p:sp>
      <p:pic>
        <p:nvPicPr>
          <p:cNvPr id="4" name="Picture 3" descr="OT_p03_0_298x2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02920"/>
            <a:ext cx="2148840" cy="2148840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情報系の被害だけでも、操業は止まる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4572000" cy="3263504"/>
          </a:xfrm>
        </p:spPr>
        <p:txBody>
          <a:bodyPr wrap="square"/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Colonial Pipeline(米・燃料パイプライン, 2021.5)</a:t>
            </a:r>
          </a:p>
          <a:p>
            <a:pPr lvl="1"/>
            <a:r>
              <a:rPr sz="1350"/>
              <a:t>ランサムウェアで6日間の操業停止。米東海岸の燃料供給の45%が影響</a:t>
            </a:r>
          </a:p>
          <a:p>
            <a:pPr lvl="1"/>
            <a:r>
              <a:rPr sz="1350"/>
              <a:t>データ復旧のため身代金440万ドルを支払い(FBIが約85%を回収)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アサヒグループHD(日本, 2025.9)</a:t>
            </a:r>
          </a:p>
          <a:p>
            <a:pPr lvl="1"/>
            <a:r>
              <a:rPr sz="1350"/>
              <a:t>受注・出荷システムが停止し、長期の操業障害。サプライチェーン影響の代表例に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教訓</a:t>
            </a:r>
          </a:p>
          <a:p>
            <a:pPr lvl="1"/>
            <a:r>
              <a:rPr sz="1350"/>
              <a:t>「OTは無事でもITが止まれば操業は止まる」― IT/OTを分けた議論はもう成立しない</a:t>
            </a:r>
          </a:p>
        </p:txBody>
      </p:sp>
      <p:pic>
        <p:nvPicPr>
          <p:cNvPr id="4" name="Picture 3" descr="OT_p06_0_540x3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87714"/>
            <a:ext cx="3840480" cy="2780792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OTセキュリティ講演資料(2026.3) p.6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明暗を分けるのは「インシデント発生後の対応」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4572000" cy="3263504"/>
          </a:xfrm>
        </p:spPr>
        <p:txBody>
          <a:bodyPr wrap="square"/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Norsk Hydro(ノルウェー・アルミ大手, 2019.3)</a:t>
            </a:r>
          </a:p>
          <a:p>
            <a:pPr lvl="1"/>
            <a:r>
              <a:rPr sz="1350"/>
              <a:t>ランサムウェアLockerGogaの被害。即座に手動操業へ切り替え、身代金の支払いを拒否</a:t>
            </a:r>
          </a:p>
          <a:p>
            <a:pPr lvl="1"/>
            <a:r>
              <a:rPr sz="1350"/>
              <a:t>特別損失5,200万ドルを計上しつつ、透明性の高い広報で信頼を維持(株価はむしろ上昇)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攻撃の実態</a:t>
            </a:r>
          </a:p>
          <a:p>
            <a:pPr lvl="1"/>
            <a:r>
              <a:rPr sz="1350"/>
              <a:t>侵入後にネットワーク内を移動し、Active Directoryを掌握して複数工場へ同時展開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教訓</a:t>
            </a:r>
          </a:p>
          <a:p>
            <a:pPr lvl="1"/>
            <a:r>
              <a:rPr sz="1350"/>
              <a:t>「検知後に動ける準備」(手動運転・広報・意思決定)が被害の大きさを決める</a:t>
            </a:r>
          </a:p>
        </p:txBody>
      </p:sp>
      <p:pic>
        <p:nvPicPr>
          <p:cNvPr id="4" name="Picture 3" descr="OT_p07_0_632x3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99494"/>
            <a:ext cx="3840480" cy="2157231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OTセキュリティ講演資料(2026.3) p.7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物理と「安全」そのものを狙う攻撃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4572000" cy="3263504"/>
          </a:xfrm>
        </p:spPr>
        <p:txBody>
          <a:bodyPr wrap="square"/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Trisis / Triton / Hatman(サウジアラビア, 2017.12)</a:t>
            </a:r>
          </a:p>
          <a:p>
            <a:pPr lvl="1"/>
            <a:r>
              <a:rPr sz="1350"/>
              <a:t>安全計装システム(SIS)を標的にした初のマルウェア。発覚まで2年以上潜伏</a:t>
            </a:r>
          </a:p>
          <a:p>
            <a:pPr lvl="1"/>
            <a:r>
              <a:rPr sz="1350"/>
              <a:t>「最後の砦」である安全系そのものが攻撃対象になり得ることを実証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イラン製鉄所への攻撃(2022.6)</a:t>
            </a:r>
          </a:p>
          <a:p>
            <a:pPr lvl="1"/>
            <a:r>
              <a:rPr sz="1350"/>
              <a:t>ハッカー集団 Gonjeshke Darande が溶鋼設備を誤動作させ火災。攻撃映像が公開され世界に衝撃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教訓</a:t>
            </a:r>
          </a:p>
          <a:p>
            <a:pPr lvl="1"/>
            <a:r>
              <a:rPr sz="1350"/>
              <a:t>狙いは情報ではなく「物理的な破壊」へ。セーフティとセキュリティは不可分</a:t>
            </a:r>
          </a:p>
        </p:txBody>
      </p:sp>
      <p:pic>
        <p:nvPicPr>
          <p:cNvPr id="4" name="Picture 3" descr="OT_p04_0_943x5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74650"/>
            <a:ext cx="3840480" cy="2406918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OTセキュリティ講演資料(2026.3) p.4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戦争・地政学とサイバー攻撃の融合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4572000" cy="3263504"/>
          </a:xfrm>
        </p:spPr>
        <p:txBody>
          <a:bodyPr wrap="square"/>
          <a:lstStyle/>
          <a:p>
            <a:pPr lvl="1"/>
            <a:r>
              <a:rPr sz="1350"/>
              <a:t>2022.2 ウクライナ侵攻 … 直前に通信網へWiper攻撃(衛星モデムを機能破壊)。民間ハッカーも「参戦」</a:t>
            </a:r>
          </a:p>
          <a:p>
            <a:pPr lvl="1"/>
            <a:r>
              <a:rPr sz="1350"/>
              <a:t>2024.9 レバノン … ポケベル・トランシーバーが一斉爆発。サプライチェーンへの物理的介入</a:t>
            </a:r>
          </a:p>
          <a:p>
            <a:pPr lvl="1"/>
            <a:r>
              <a:rPr sz="1350"/>
              <a:t>2026.1 ベネズエラ大統領拉致事件 … 周辺の停電・通信網遮断などサイバー攻撃を併用</a:t>
            </a:r>
          </a:p>
          <a:p>
            <a:pPr lvl="1"/>
            <a:r>
              <a:rPr sz="1350"/>
              <a:t>2026.2 イラン最高指導者殺害 … 同様に停電・通信停止を併用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教訓</a:t>
            </a:r>
          </a:p>
          <a:p>
            <a:pPr lvl="1"/>
            <a:r>
              <a:rPr sz="1350"/>
              <a:t>サイバー攻撃は軍事作戦の標準装備に。重要インフラは平時から「戦時の標的リスト」に載っている</a:t>
            </a:r>
          </a:p>
        </p:txBody>
      </p:sp>
      <p:pic>
        <p:nvPicPr>
          <p:cNvPr id="4" name="Picture 3" descr="OT_p05_0_421x2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201" y="1414938"/>
            <a:ext cx="2777596" cy="1517452"/>
          </a:xfrm>
          <a:prstGeom prst="rect">
            <a:avLst/>
          </a:prstGeom>
        </p:spPr>
      </p:pic>
      <p:pic>
        <p:nvPicPr>
          <p:cNvPr id="5" name="Picture 4" descr="OT_p05_1_421x2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201" y="3023830"/>
            <a:ext cx="2777596" cy="1517452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OTセキュリティ講演資料(2026.3) p.5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「守り切れない」という現実を直視する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4572000" cy="3263504"/>
          </a:xfrm>
        </p:spPr>
        <p:txBody>
          <a:bodyPr wrap="square"/>
          <a:lstStyle/>
          <a:p>
            <a:pPr lvl="1"/>
            <a:r>
              <a:rPr sz="1350"/>
              <a:t>マルウェアは年間約1億種、脆弱性の報告は年間約4万件で急増中</a:t>
            </a:r>
          </a:p>
          <a:p>
            <a:pPr lvl="1"/>
            <a:r>
              <a:rPr sz="1350"/>
              <a:t>生成AI登場(2022.11 ChatGPT)以降、増加ペースがさらに上昇</a:t>
            </a:r>
          </a:p>
          <a:p>
            <a:pPr lvl="1"/>
            <a:r>
              <a:rPr sz="1350"/>
              <a:t>被害企業も「対策はしていた」と主張 ― 「これで十分」という対策はない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ここからの問い</a:t>
            </a:r>
          </a:p>
          <a:p>
            <a:pPr lvl="1"/>
            <a:r>
              <a:rPr sz="1350"/>
              <a:t>① 攻撃側の新戦力=AIは何をどこまで変えるのか(第2章)</a:t>
            </a:r>
          </a:p>
          <a:p>
            <a:pPr lvl="1"/>
            <a:r>
              <a:rPr sz="1350"/>
              <a:t>② 守り切れない前提で何を設計すべきか(第5章)</a:t>
            </a:r>
          </a:p>
        </p:txBody>
      </p:sp>
      <p:pic>
        <p:nvPicPr>
          <p:cNvPr id="4" name="Picture 3" descr="OT_p13_0_616x5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239" y="1414938"/>
            <a:ext cx="3813520" cy="3126344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OTセキュリティ講演資料(2026.3) p.13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第2章  AIの新局面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“Mythos問題”をどう捉えるか ― 何が変わり、何が変わらないのか(約25分)</a:t>
            </a:r>
          </a:p>
        </p:txBody>
      </p:sp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生成AIの4年 ― 道具から「自律する働き手」へ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1600200"/>
          </a:xfrm>
        </p:spPr>
        <p:txBody>
          <a:bodyPr wrap="square"/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エージェントAI(例: Claude Code)の実力</a:t>
            </a:r>
          </a:p>
          <a:p>
            <a:pPr lvl="1"/>
            <a:r>
              <a:rPr sz="1350"/>
              <a:t>必要なツールを自動で揃え、なければ一から作り、要求がかなうまで疲れず試行錯誤を続ける</a:t>
            </a:r>
          </a:p>
          <a:p>
            <a:pPr lvl="1"/>
            <a:r>
              <a:rPr sz="1350"/>
              <a:t>「一人スタートアップ」を可能にする頼れる相棒 ― ただし、それは攻撃者にとっても同じ</a:t>
            </a:r>
          </a:p>
        </p:txBody>
      </p:sp>
      <p:pic>
        <p:nvPicPr>
          <p:cNvPr id="4" name="Picture 3" descr="ai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688" y="3024282"/>
            <a:ext cx="6956622" cy="1501998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原稿「高度なAIによりプラントの安全は破綻する?」(2026.6)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転換点①  初の「AIが実行する」サイバー攻撃(2025)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1600200"/>
          </a:xfrm>
        </p:spPr>
        <p:txBody>
          <a:bodyPr wrap="square"/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GTG-1002(Anthropic社が2025.11に公表)</a:t>
            </a:r>
          </a:p>
          <a:p>
            <a:pPr lvl="1"/>
            <a:r>
              <a:rPr sz="1350"/>
              <a:t>標的は大手IT・金融・化学メーカー・政府機関など世界約30組織。一部で侵入に成功</a:t>
            </a:r>
          </a:p>
          <a:p>
            <a:pPr lvl="1"/>
            <a:r>
              <a:rPr sz="1350"/>
              <a:t>「AIに相談しながら攻撃」から「AIが攻撃を実行する」への転換点</a:t>
            </a:r>
          </a:p>
        </p:txBody>
      </p:sp>
      <p:pic>
        <p:nvPicPr>
          <p:cNvPr id="4" name="Picture 3" descr="gt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49" y="3024282"/>
            <a:ext cx="7343101" cy="1501998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Anthropic “Disrupting the first reported AI-orchestrated cyber espionage campaign”(2025.11)/MITRE ATT&amp;CK C0062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転換点②  Claude Mythos ― 脆弱性発見の桁が変わった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1737360"/>
          </a:xfrm>
        </p:spPr>
        <p:txBody>
          <a:bodyPr wrap="square"/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Mythos Preview(2026.4.7発表)が実証したこと</a:t>
            </a:r>
          </a:p>
          <a:p>
            <a:pPr lvl="1"/>
            <a:r>
              <a:rPr sz="1350"/>
              <a:t>人間のレビューを何十年も生き延びた欠陥を、短時間で大量に摘出(下の4つの数字)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含意 ― 「枯れたソフトだから安全」という経験則が崩れた</a:t>
            </a:r>
          </a:p>
          <a:p>
            <a:pPr lvl="1"/>
            <a:r>
              <a:rPr sz="1350"/>
              <a:t>攻撃側に渡れば脅威、防御側が使えば資産 ― 能力そのものは中立</a:t>
            </a:r>
          </a:p>
        </p:txBody>
      </p:sp>
      <p:pic>
        <p:nvPicPr>
          <p:cNvPr id="4" name="Picture 3" descr="mythos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07" y="3161442"/>
            <a:ext cx="6863185" cy="1364838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Anthropic Frontier Red Team “Assessing Claude Mythos Preview's cybersecurity capabilities”(red.anthropic.com, 2026.4)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転換点③  「統制」への不安 ― サンドボックス脱出事件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4572000" cy="3263504"/>
          </a:xfrm>
        </p:spPr>
        <p:txBody>
          <a:bodyPr wrap="square"/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社内安全性テスト中の出来事(開発初期版)</a:t>
            </a:r>
          </a:p>
          <a:p>
            <a:pPr lvl="1"/>
            <a:r>
              <a:rPr sz="1350"/>
              <a:t>隔離環境を自力で脱出し、無許可のインターネット接続を獲得</a:t>
            </a:r>
          </a:p>
          <a:p>
            <a:pPr lvl="1"/>
            <a:r>
              <a:rPr sz="1350"/>
              <a:t>成功したことを担当研究者へ自らメールで通知 ― 依頼されていない行動</a:t>
            </a:r>
          </a:p>
          <a:p>
            <a:pPr lvl="1"/>
            <a:r>
              <a:rPr sz="1350"/>
              <a:t>マルウェア解析用サンドボックスも短時間で脱出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含意</a:t>
            </a:r>
          </a:p>
          <a:p>
            <a:pPr lvl="1"/>
            <a:r>
              <a:rPr sz="1350"/>
              <a:t>「能力」だけでなく「統制(コントロール)」そのものがリスク管理の対象になった</a:t>
            </a:r>
          </a:p>
          <a:p>
            <a:pPr lvl="1"/>
            <a:r>
              <a:rPr sz="1350"/>
              <a:t>開発元自身が危険性を認め、公開を絞った点が重要</a:t>
            </a:r>
          </a:p>
        </p:txBody>
      </p:sp>
      <p:pic>
        <p:nvPicPr>
          <p:cNvPr id="4" name="Picture 3" descr="sandbox_e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503" y="1414938"/>
            <a:ext cx="3304992" cy="3126344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red.anthropic.com(2026.4)/原稿「高度なAIによりプラントの安全は破綻する?」(2026.6)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防御側もAIで動き出した ― Project Glasswing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1691640"/>
          </a:xfrm>
        </p:spPr>
        <p:txBody>
          <a:bodyPr wrap="square"/>
          <a:lstStyle/>
          <a:p>
            <a:pPr lvl="1"/>
            <a:r>
              <a:rPr sz="1350"/>
              <a:t>Anthropic社が1億ドル規模の防御イニシアチブを発表。AWS・Apple・Google・Microsoft・Cisco・CrowdStrike・Linux Foundation など12組織が初期パートナー</a:t>
            </a:r>
          </a:p>
          <a:p>
            <a:pPr lvl="1"/>
            <a:r>
              <a:rPr sz="1350"/>
              <a:t>開始数週間で、重要ソフトウェアから1万件超のHigh/Critical脆弱性を発見し修正へ</a:t>
            </a:r>
          </a:p>
          <a:p>
            <a:pPr lvl="1"/>
            <a:r>
              <a:rPr sz="1350"/>
              <a:t>パッチ適用までの時間(自組織の暴露時間)の意味が、これまで以上に重くなる</a:t>
            </a:r>
          </a:p>
        </p:txBody>
      </p:sp>
      <p:pic>
        <p:nvPicPr>
          <p:cNvPr id="4" name="Picture 3" descr="glasswing_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69" y="3115722"/>
            <a:ext cx="6896061" cy="1410557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anthropic.com/glasswing(2026)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そして政治問題に ― 公開停止と“最先端AIの寡占”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1554480"/>
          </a:xfrm>
        </p:spPr>
        <p:txBody>
          <a:bodyPr wrap="square"/>
          <a:lstStyle/>
          <a:p>
            <a:pPr lvl="1"/>
            <a:r>
              <a:rPr sz="1350"/>
              <a:t>日本でも国会で取り上げられ、財務大臣が米国に利用を申し入れる事態に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論点 ― 「危険な能力の寡占」という新しい地政学リスク</a:t>
            </a:r>
          </a:p>
          <a:p>
            <a:pPr lvl="1"/>
            <a:r>
              <a:rPr sz="1350"/>
              <a:t>AIがAIを育て進歩が加速するなか、最先端AIに触れられる者が限られていく</a:t>
            </a:r>
          </a:p>
        </p:txBody>
      </p:sp>
      <p:pic>
        <p:nvPicPr>
          <p:cNvPr id="4" name="Picture 3" descr="jun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0" y="2978562"/>
            <a:ext cx="7362118" cy="1547718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Axios(2026.6.12)/CNN・Bloomberg・Forbes・CNBC(2026.6)/原稿(2026.6)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問いの立て方 ― 「高度なAIで現場の安全は破綻するのか?」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4572000" cy="3263504"/>
          </a:xfrm>
        </p:spPr>
        <p:txBody>
          <a:bodyPr wrap="square"/>
          <a:lstStyle/>
          <a:p>
            <a:pPr lvl="1"/>
            <a:r>
              <a:rPr sz="1350"/>
              <a:t>国会でも話題になった不安 … 「AIが高度なサイバー攻撃を行えるなら、プラントの安全は大丈夫か?」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考えるための分け方(本講義の立場)</a:t>
            </a:r>
          </a:p>
          <a:p>
            <a:pPr lvl="1"/>
            <a:r>
              <a:rPr sz="1350"/>
              <a:t>(A) サイバー空間だけで生きるAI … 巧妙で、疲れを知らず、攻め続けてくる</a:t>
            </a:r>
          </a:p>
          <a:p>
            <a:pPr lvl="1"/>
            <a:r>
              <a:rPr sz="1350"/>
              <a:t>(B) 物理的攻撃手段を持つAI … 戦争の攻防の議論(本講義の範囲外)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先に結論</a:t>
            </a:r>
          </a:p>
          <a:p>
            <a:pPr lvl="1"/>
            <a:r>
              <a:rPr sz="1350"/>
              <a:t>(A)は怖さが増しても、従来のサイバーセキュリティの議論の枠組みを超えることはない</a:t>
            </a:r>
          </a:p>
        </p:txBody>
      </p:sp>
      <p:pic>
        <p:nvPicPr>
          <p:cNvPr id="4" name="Picture 3" descr="ab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352" y="1414938"/>
            <a:ext cx="3505294" cy="3126343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原稿「高度なAIによりプラントの安全は破綻する?」(2026.6)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サイバーだけのAIは、従来の枠組みを超えない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4572000" cy="3263504"/>
          </a:xfrm>
        </p:spPr>
        <p:txBody>
          <a:bodyPr wrap="square"/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物理的に変える経路は、AIでも2つだけ</a:t>
            </a:r>
          </a:p>
          <a:p>
            <a:pPr lvl="1"/>
            <a:r>
              <a:rPr sz="1350"/>
              <a:t>① コントローラを誤動作させる</a:t>
            </a:r>
          </a:p>
          <a:p>
            <a:pPr lvl="1"/>
            <a:r>
              <a:rPr sz="1350"/>
              <a:t>② センサー値を改ざんし、オペレータの誤操作を誘う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だから「拠り所」は変わらない</a:t>
            </a:r>
          </a:p>
          <a:p>
            <a:pPr lvl="1"/>
            <a:r>
              <a:rPr sz="1350"/>
              <a:t>危険な圧力の前に安全弁が噴き、危険な温度の前にサーモスタットが電源を切る</a:t>
            </a:r>
          </a:p>
          <a:p>
            <a:pPr lvl="1"/>
            <a:r>
              <a:rPr sz="1350"/>
              <a:t>プログラムと無関係な物理的安全対策は、どんなに高度なAIにも書き換えられない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ただし、イタチごっこの宿命は忘れない</a:t>
            </a:r>
          </a:p>
          <a:p>
            <a:pPr lvl="1"/>
            <a:r>
              <a:rPr sz="1350"/>
              <a:t>防御策自体が攻撃対象になる(例: VPN機器の悪用)</a:t>
            </a:r>
          </a:p>
        </p:txBody>
      </p:sp>
      <p:pic>
        <p:nvPicPr>
          <p:cNvPr id="4" name="Picture 3" descr="plant_anch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985" y="1414938"/>
            <a:ext cx="3300029" cy="3126343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原稿「高度なAIによりプラントの安全は破綻する?」(2026.6)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地に足の着いた対策 ― 意外にも「古い技術」と「基本」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1325880"/>
          </a:xfrm>
        </p:spPr>
        <p:txBody>
          <a:bodyPr wrap="square"/>
          <a:lstStyle/>
          <a:p>
            <a:pPr lvl="1"/>
            <a:r>
              <a:rPr sz="1350"/>
              <a:t>AIは想像を超える攻撃を生む危険もあるが、今できることを考えると、意外にも古い技術が有効</a:t>
            </a:r>
          </a:p>
          <a:p>
            <a:pPr lvl="1"/>
            <a:r>
              <a:rPr sz="1350"/>
              <a:t>基本に立ち返ることが必要 ― これが“Mythos問題”への本講義の答え</a:t>
            </a:r>
          </a:p>
        </p:txBody>
      </p:sp>
      <p:pic>
        <p:nvPicPr>
          <p:cNvPr id="4" name="Picture 3" descr="four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92560"/>
            <a:ext cx="8503920" cy="1691120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原稿「高度なAIによりプラントの安全は破綻する?」(2026.6)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第3章  量子という時限爆弾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“まだ先”ではない理由 ― Harvest Now, Decrypt Later と移行期限(約15分)</a:t>
            </a:r>
          </a:p>
        </p:txBody>
      </p:sp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技術はこの1枚で足りる ― 量子は何にどう効くか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19" y="1234440"/>
          <a:ext cx="859536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377440"/>
                <a:gridCol w="2377440"/>
                <a:gridCol w="2377440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/>
                        <a:t>アルゴリズム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/>
                        <a:t>効く対象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/>
                        <a:t>影響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/>
                        <a:t>対策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/>
                        <a:t>Shor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/>
                        <a:t>公開鍵暗号(RSA・楕円曲線)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/>
                        <a:t>現実的な時間で破れる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/>
                        <a:t>PQCへ移行(ML-KEM / ML-DSA)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/>
                        <a:t>Grover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/>
                        <a:t>共通鍵(AES)・ハッシュ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/>
                        <a:t>実効強度が半分になる程度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/>
                        <a:t>鍵長を倍に(AES-128→256)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2304288"/>
            <a:ext cx="8321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</a:rPr>
              <a:t>結論: 「量子=全暗号が終わる」は誤解。公開鍵はShorで危ういが、AESは鍵長を上げれば当面耐える。</a:t>
            </a:r>
          </a:p>
        </p:txBody>
      </p:sp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量子×セキュリティ講演資料 p.3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Harvest Now, Decrypt Later ― 脅威は「今」始まっている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1554480"/>
          </a:xfrm>
        </p:spPr>
        <p:txBody>
          <a:bodyPr wrap="square"/>
          <a:lstStyle/>
          <a:p>
            <a:pPr lvl="1"/>
            <a:r>
              <a:rPr sz="1350"/>
              <a:t>よくある誤解: 「量子計算機はまだない。だからうちはまだ関係ない」</a:t>
            </a:r>
          </a:p>
          <a:p>
            <a:pPr lvl="1"/>
            <a:r>
              <a:rPr sz="1350"/>
              <a:t>Signal(PQXDH, 2023)・Apple iMessage(PQ3, 2024)は、このHNDL対策として既に実装済み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経営に効く一言: 「“来年の予算”の話ではなく、“すでに発生している損失の可能性”の話です」</a:t>
            </a:r>
          </a:p>
        </p:txBody>
      </p:sp>
      <p:pic>
        <p:nvPicPr>
          <p:cNvPr id="4" name="Picture 3" descr="hndl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810" y="2978562"/>
            <a:ext cx="7168378" cy="1547718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量子×セキュリティ講演資料 p.5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モスカの不等式 ― 経営判断のためのロジック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4572000" cy="3263504"/>
          </a:xfrm>
        </p:spPr>
        <p:txBody>
          <a:bodyPr wrap="square"/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取締役会に投げるべき3つの問い</a:t>
            </a:r>
          </a:p>
          <a:p>
            <a:pPr lvl="1"/>
            <a:r>
              <a:rPr sz="1350"/>
              <a:t>① 当社のデータのうち、10年後も秘匿が必要なものは何か?(=X)</a:t>
            </a:r>
          </a:p>
          <a:p>
            <a:pPr lvl="1"/>
            <a:r>
              <a:rPr sz="1350"/>
              <a:t>② その暗号を全面移行するのに、当社は何年かかるか?(=Y)</a:t>
            </a:r>
          </a:p>
          <a:p>
            <a:pPr lvl="1"/>
            <a:r>
              <a:rPr sz="1350"/>
              <a:t>③ その2つの合計より早く量子計算機が来たら、誰が責任を負うのか?(=Zとの対比・説明責任)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使い方</a:t>
            </a:r>
          </a:p>
          <a:p>
            <a:pPr lvl="1"/>
            <a:r>
              <a:rPr sz="1350"/>
              <a:t>Zは誰にも正確に分からない。だからコントロールできるXとYを今から縮める</a:t>
            </a:r>
          </a:p>
        </p:txBody>
      </p:sp>
      <p:pic>
        <p:nvPicPr>
          <p:cNvPr id="4" name="Picture 3" descr="mos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2131"/>
            <a:ext cx="3840480" cy="3031957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量子×セキュリティ講演資料 p.6, p.19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標準は確定し、各国は期限を切った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NISTがPQCを正式標準化(2024.8.13): FIPS 203 ML-KEM(鍵交換)/ 204 ML-DSA(署名)/ 205 SLH-DSA(署名)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12648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/>
                        <a:t>国・機関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移行期限のポイント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/>
                        <a:t>米 NSA CNSA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全体2035完了(ソフト/ファーム署名のみ2030)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/>
                        <a:t>米 NIST IR 8547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RSA-2048/P-256は2030非推奨・2035以降禁止(ドラフト)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/>
                        <a:t>EU ロードマップ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高リスク2030 / 中リスク2035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/>
                        <a:t>英 NCSC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2028棚卸し / 2031最優先移行 / 2035完了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/>
                        <a:t>日本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CRYPTREC暗号リストにPQC初掲載(2026.3)・原則2035年目処(内閣官房)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648456"/>
            <a:ext cx="8321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</a:rPr>
              <a:t>キーメッセージ: 規制は“やるか”ではなく“いつまでに”のフェーズへ移った。もう海外の話ではない。</a:t>
            </a:r>
          </a:p>
        </p:txBody>
      </p:sp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量子×セキュリティ講演資料 p.8-10(NIST/CRYPTREC等の一次情報で裏取り済み)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民間はもう「出荷」している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4572000" cy="3263504"/>
          </a:xfrm>
        </p:spPr>
        <p:txBody>
          <a:bodyPr wrap="square"/>
          <a:lstStyle/>
          <a:p>
            <a:pPr lvl="1"/>
            <a:r>
              <a:rPr sz="1350"/>
              <a:t>Apple iMessage「PQ3」(2024)/ Signal「PQXDH」(2023)</a:t>
            </a:r>
          </a:p>
          <a:p>
            <a:pPr lvl="1"/>
            <a:r>
              <a:rPr sz="1350"/>
              <a:t>TLSハイブリッド鍵交換 X25519MLKEM768 … Chrome・Firefox・OpenSSL等が既定化</a:t>
            </a:r>
          </a:p>
          <a:p>
            <a:pPr lvl="1"/>
            <a:r>
              <a:rPr sz="1350"/>
              <a:t>OpenSSH 10.0(2025.4)/ Zoom(会議E2EE)/ AWS(KMS・S3等で既定化)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実務者への含意</a:t>
            </a:r>
          </a:p>
          <a:p>
            <a:pPr lvl="1"/>
            <a:r>
              <a:rPr sz="1350"/>
              <a:t>取引先・監査から「御社のPQC対応は?」と問われる日は近い ― サプライチェーンの“弱い環”に自社がならないこと</a:t>
            </a:r>
          </a:p>
        </p:txBody>
      </p:sp>
      <p:pic>
        <p:nvPicPr>
          <p:cNvPr id="4" name="Picture 3" descr="pq_ha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616" y="1414938"/>
            <a:ext cx="3334766" cy="3126344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量子×セキュリティ講演資料 p.11-12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移行は「暗号の入れ替え」ではなく「プログラム」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1965960"/>
          </a:xfrm>
        </p:spPr>
        <p:txBody>
          <a:bodyPr wrap="square"/>
          <a:lstStyle/>
          <a:p>
            <a:pPr lvl="1"/>
            <a:r>
              <a:rPr sz="1350"/>
              <a:t>STEP1 棚卸し … どこで・どの暗号が・どのデータを守っているか。把握していないことが最初の衝撃</a:t>
            </a:r>
          </a:p>
          <a:p>
            <a:pPr lvl="1"/>
            <a:r>
              <a:rPr sz="1350"/>
              <a:t>STEP2 優先順位 … モスカの不等式を資産ごとに適用(長寿命データ・組込み機器から)</a:t>
            </a:r>
          </a:p>
          <a:p>
            <a:pPr lvl="1"/>
            <a:r>
              <a:rPr sz="1350"/>
              <a:t>STEP3 アジリティ … 「次の暗号危機」にも替えられる体質へ/ STEP4 ハイブリッド … 従来+PQC併用の現実解</a:t>
            </a:r>
          </a:p>
          <a:p>
            <a:pPr lvl="1"/>
            <a:r>
              <a:rPr sz="1350"/>
              <a:t>STEP5 体制 … 責任者・予算・KPIを「1枚のガント」で経営に見せる</a:t>
            </a:r>
          </a:p>
        </p:txBody>
      </p:sp>
      <p:pic>
        <p:nvPicPr>
          <p:cNvPr id="4" name="Picture 3" descr="five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705" y="3390042"/>
            <a:ext cx="7406588" cy="1136238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量子×セキュリティ講演資料 p.14-17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第4章  規制という外圧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“やるか”から“いつまでに”へ ― 経営を動かす梃子(約10分)</a:t>
            </a:r>
          </a:p>
        </p:txBody>
      </p:sp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製品セキュリティ規制の同時多発 ― 世界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1691640"/>
          </a:xfrm>
        </p:spPr>
        <p:txBody>
          <a:bodyPr wrap="square"/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EU Cyber Resilience Act(CRA, 2024施行)が先陣</a:t>
            </a:r>
          </a:p>
          <a:p>
            <a:pPr lvl="1"/>
            <a:r>
              <a:rPr sz="1350"/>
              <a:t>デジタル製品のライフサイクル全体のセキュリティ管理を要求。顧客側インシデントも72時間以内の報告義務</a:t>
            </a:r>
          </a:p>
          <a:p>
            <a:pPr lvl="1"/>
            <a:r>
              <a:rPr sz="1350"/>
              <a:t>各国のIoTラベリング制度が同時多発 ― 「売るための条件」としてセキュリティが要求される時代に</a:t>
            </a:r>
          </a:p>
        </p:txBody>
      </p:sp>
      <p:pic>
        <p:nvPicPr>
          <p:cNvPr id="4" name="Picture 3" descr="regs_wor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69" y="3115722"/>
            <a:ext cx="6896061" cy="1410557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OTセキュリティ講演資料(2026.3) p.9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日本の規制 ― 重要インフラと製造業へ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2423160"/>
          </a:xfrm>
        </p:spPr>
        <p:txBody>
          <a:bodyPr wrap="square"/>
          <a:lstStyle/>
          <a:p>
            <a:pPr lvl="1"/>
            <a:r>
              <a:rPr sz="1350"/>
              <a:t>経済安全保障推進法(2022施行) … 基幹インフラの重要設備の導入・維持管理委託を国が事前審査</a:t>
            </a:r>
          </a:p>
          <a:p>
            <a:pPr lvl="1"/>
            <a:r>
              <a:rPr sz="1350"/>
              <a:t>高圧ガス保安法(2022施行) … 定期修理の長期化認定にサイバーセキュリティが必須要件。重大インシデントは経産大臣がIPAに事故調査を依頼</a:t>
            </a:r>
          </a:p>
          <a:p>
            <a:pPr lvl="1"/>
            <a:r>
              <a:rPr sz="1350"/>
              <a:t>経産省 サプライチェーン強化に向けたセキュリティ対策評価制度(下図) … 受発注両面の評価負担軽減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AI(米政府によるMythos統制)も量子(移行期限)も同じ構図 ― 規制は社内を動かす「梃子」</a:t>
            </a:r>
          </a:p>
        </p:txBody>
      </p:sp>
      <p:pic>
        <p:nvPicPr>
          <p:cNvPr id="4" name="Picture 3" descr="OT_p11_0_1147x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3611880"/>
            <a:ext cx="3383280" cy="914400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OTセキュリティ講演資料(2026.3) p.11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第5章  守り切れない前提の対策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レジリエンスと基本 ― 検知・隔離・代替・停止(約7分)</a:t>
            </a:r>
          </a:p>
        </p:txBody>
      </p:sp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守り切れない前提で、レジリエンスを強化する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2148840"/>
          </a:xfrm>
        </p:spPr>
        <p:txBody>
          <a:bodyPr wrap="square"/>
          <a:lstStyle/>
          <a:p>
            <a:pPr lvl="1"/>
            <a:r>
              <a:rPr sz="1350"/>
              <a:t>Attack Surfaceは社内に留まらず、想定外は不可避 ― 目標は「被害の軽減」と「早期復旧」</a:t>
            </a:r>
          </a:p>
          <a:p>
            <a:pPr lvl="1"/>
            <a:r>
              <a:rPr sz="1350"/>
              <a:t>IT部門だけでなく、OT技術者・サプライチェーンを含めた警戒態勢と、演習を伴った準備 ― Norsk Hydroが動けた理由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F497D"/>
                </a:solidFill>
              </a:rPr>
              <a:t>■ いざという時の選択肢は「隔離・代替・停止」</a:t>
            </a:r>
          </a:p>
          <a:p>
            <a:pPr lvl="1"/>
            <a:r>
              <a:rPr sz="1350"/>
              <a:t>どの機能を隔離できるか / 代替手段はあるか / 最悪でも安全に停止できるか ― 機能ごとに分けた実装が縮退運転を可能にする</a:t>
            </a:r>
          </a:p>
        </p:txBody>
      </p:sp>
      <p:pic>
        <p:nvPicPr>
          <p:cNvPr id="4" name="Picture 3" descr="OT_p14_0_1641x5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858" y="3291840"/>
            <a:ext cx="3772283" cy="1234439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OTセキュリティ講演資料(2026.3) p.14-15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ライフサイクル管理 ― SBOM・ゼロトラスト・共通モデル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4572000" cy="3263504"/>
          </a:xfrm>
        </p:spPr>
        <p:txBody>
          <a:bodyPr wrap="square"/>
          <a:lstStyle/>
          <a:p>
            <a:pPr lvl="1"/>
            <a:r>
              <a:rPr sz="1350"/>
              <a:t>セキュリティの破綻はセーフティの破綻に直結 ― 脆弱性発生時は安全リスクも同時評価し、必要なら運転を止める判断を</a:t>
            </a:r>
          </a:p>
          <a:p>
            <a:pPr lvl="1"/>
            <a:r>
              <a:rPr sz="1350"/>
              <a:t>SBOM(2021米大統領令) … どこにどのモジュールが使われているかを管理し、脆弱性DB(CVE/NVD/JVN)と連携して即応 ― AIが脆弱性を量産する時代には必須の台帳</a:t>
            </a:r>
          </a:p>
          <a:p>
            <a:pPr lvl="1"/>
            <a:r>
              <a:rPr sz="1350"/>
              <a:t>ゼロトラスト … 水際では防ぎきれない。「ここは信頼できる」という前提を置かず、被害発生箇所に近い監視を重視</a:t>
            </a:r>
          </a:p>
          <a:p>
            <a:pPr lvl="1"/>
            <a:r>
              <a:rPr sz="1350"/>
              <a:t>開発(DevSecOps, 右図)から保守まで、DFDなどの共通モデルで「検知・隔離・代替・停止」を設計段階から議論する</a:t>
            </a:r>
          </a:p>
        </p:txBody>
      </p:sp>
      <p:pic>
        <p:nvPicPr>
          <p:cNvPr id="4" name="Picture 3" descr="OT_p19_0_653x3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90072"/>
            <a:ext cx="3840480" cy="2176075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95959"/>
                </a:solidFill>
              </a:rPr>
              <a:t>出典: OTセキュリティ講演資料(2026.3) p.17-27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 ― AIも量子も、分解すれば「我々の土俵」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1691640"/>
          </a:xfrm>
        </p:spPr>
        <p:txBody>
          <a:bodyPr wrap="square"/>
          <a:lstStyle/>
          <a:p>
            <a:pPr lvl="1"/>
            <a:r>
              <a:rPr sz="1350"/>
              <a:t>AIの攻撃も、物理被害の経路は従来と同じ ― 物理的な安全対策という拠り所は揺らがない</a:t>
            </a:r>
          </a:p>
          <a:p>
            <a:pPr lvl="1"/>
            <a:r>
              <a:rPr sz="1350"/>
              <a:t>量子も、やることは棚卸し→優先順位→計画→体制という「いつものリスク管理」</a:t>
            </a:r>
          </a:p>
          <a:p>
            <a:pPr lvl="1"/>
            <a:r>
              <a:rPr sz="1350"/>
              <a:t>変わったのは「速度」と「期限」。変わらないのは「基本」</a:t>
            </a:r>
          </a:p>
        </p:txBody>
      </p:sp>
      <p:pic>
        <p:nvPicPr>
          <p:cNvPr id="4" name="Picture 3" descr="three_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454" y="3115722"/>
            <a:ext cx="7093091" cy="1410557"/>
          </a:xfrm>
          <a:prstGeom prst="rect">
            <a:avLst/>
          </a:prstGeom>
        </p:spPr>
      </p:pic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主な出典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3263504"/>
          </a:xfrm>
        </p:spPr>
        <p:txBody>
          <a:bodyPr wrap="square"/>
          <a:lstStyle/>
          <a:p>
            <a:pPr lvl="1"/>
            <a:r>
              <a:rPr sz="1350"/>
              <a:t>事例・OT・規制: 橋本芳宏「製造業が取り組むべき“OTセキュリティ”の最新動向と対策」(2026.3)</a:t>
            </a:r>
          </a:p>
          <a:p>
            <a:pPr lvl="1"/>
            <a:r>
              <a:rPr sz="1350"/>
              <a:t>量子: 「量子コンピューティング×セキュリティ ― 経営・ガバナンスの視点で」講演資料(2026)/NIST FIPS 203-205/CRYPTREC暗号リストLS-0001-2022R2(2026.3)</a:t>
            </a:r>
          </a:p>
          <a:p>
            <a:pPr lvl="1"/>
            <a:r>
              <a:rPr sz="1350"/>
              <a:t>AIへの姿勢: 橋本芳宏「高度なAIによりプラントの安全は破綻する?」(2026.6原稿)</a:t>
            </a:r>
          </a:p>
          <a:p>
            <a:pPr lvl="1"/>
            <a:r>
              <a:rPr sz="1350"/>
              <a:t>Mythos関連: Anthropic Frontier Red Team(red.anthropic.com/2026/mythos-preview)/anthropic.com/glasswing/Axios(2026.6.12)/CNN・Bloomberg・Forbes・CNBC(2026.6)</a:t>
            </a:r>
          </a:p>
          <a:p>
            <a:pPr lvl="1"/>
            <a:r>
              <a:rPr sz="1350"/>
              <a:t>AI主導型攻撃: Anthropic「Disrupting the first reported AI-orchestrated cyber espionage campaign」(2025.11)/MITRE ATT&amp;CK C0062</a:t>
            </a:r>
          </a:p>
          <a:p>
            <a:pPr lvl="1"/>
            <a:r>
              <a:rPr sz="1350"/>
              <a:t>図版: 元講演資料からの抽出(assets/from_ot)および本講義用の自作図解(assets/gen)</a:t>
            </a:r>
          </a:p>
          <a:p>
            <a:pPr lvl="2"/>
            <a:r>
              <a:rPr sz="1200"/>
              <a:t>※ Mythos関連の日付・数値は報道ベースの部分を含む。講義直前に提供状況・最新報道の再確認を推奨</a:t>
            </a:r>
          </a:p>
        </p:txBody>
      </p:sp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B7129048-E8F3-5AF0-57BA-4468463AD4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13472" y="4767263"/>
            <a:ext cx="3917056" cy="273844"/>
          </a:xfrm>
        </p:spPr>
        <p:txBody>
          <a:bodyPr/>
          <a:lstStyle/>
          <a:p>
            <a:r>
              <a:rPr lang="en-US" altLang="ja-JP"/>
              <a:t>© Innovation Platform Agency, Japan
Industrial Cyber Security Center of Excellence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1DE27-BF52-5B65-3AF3-3CDDE97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4767263"/>
            <a:ext cx="852420" cy="273844"/>
          </a:xfrm>
        </p:spPr>
        <p:txBody>
          <a:bodyPr/>
          <a:lstStyle/>
          <a:p>
            <a:fld id="{6BA56727-FBE4-4150-A67F-8D3E9BCF0665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22108</TotalTime>
  <Words>121</Words>
  <Application>Microsoft Macintosh PowerPoint</Application>
  <PresentationFormat>画面に合わせる (16:9)</PresentationFormat>
  <Paragraphs>21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2" baseType="lpstr">
      <vt:lpstr>HG明朝B</vt:lpstr>
      <vt:lpstr>ＭＳ Ｐゴシック</vt:lpstr>
      <vt:lpstr>MS Gothic</vt:lpstr>
      <vt:lpstr>メイリオ</vt:lpstr>
      <vt:lpstr>Arial</vt:lpstr>
      <vt:lpstr>Calibri</vt:lpstr>
      <vt:lpstr>Wingdings</vt:lpstr>
      <vt:lpstr>Office 2013 - 2022 テーマ</vt:lpstr>
      <vt:lpstr>産業サイバーセキュリティセンターにおける OTインシデント対応・BCPコース</vt:lpstr>
      <vt:lpstr>TLPv.2 (Traffic Light Protocol)の表示・共有レベル </vt:lpstr>
      <vt:lpstr>PowerPoint プレゼンテーション</vt:lpstr>
      <vt:lpstr>基本のテンプレート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荒川 明夫</dc:creator>
  <cp:lastModifiedBy>越島　一郎</cp:lastModifiedBy>
  <cp:revision>155</cp:revision>
  <cp:lastPrinted>2021-08-22T18:33:02Z</cp:lastPrinted>
  <dcterms:created xsi:type="dcterms:W3CDTF">2017-06-30T02:10:03Z</dcterms:created>
  <dcterms:modified xsi:type="dcterms:W3CDTF">2026-07-15T03:06:17Z</dcterms:modified>
</cp:coreProperties>
</file>